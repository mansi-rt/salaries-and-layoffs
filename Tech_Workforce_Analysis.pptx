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  <p:sldId id="272" r:id="rId18"/>
    <p:sldId id="273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19"/>
  </p:normalViewPr>
  <p:slideViewPr>
    <p:cSldViewPr snapToGrid="0" snapToObjects="1">
      <p:cViewPr>
        <p:scale>
          <a:sx n="143" d="100"/>
          <a:sy n="143" d="100"/>
        </p:scale>
        <p:origin x="2584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D343D4-713F-4A52-A32D-60CE36FCF40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FAB55F2-4BC9-4F10-BC74-3AF823590F8A}">
      <dgm:prSet/>
      <dgm:spPr/>
      <dgm:t>
        <a:bodyPr/>
        <a:lstStyle/>
        <a:p>
          <a:pPr>
            <a:defRPr cap="all"/>
          </a:pPr>
          <a:r>
            <a:rPr lang="en-US" cap="none" dirty="0"/>
            <a:t>Post-covid tech boom led to over-hiring, followed by corrections.</a:t>
          </a:r>
        </a:p>
      </dgm:t>
    </dgm:pt>
    <dgm:pt modelId="{0CB19978-9867-448C-9D89-A5B03767155C}" type="parTrans" cxnId="{DE1DED18-E70A-409F-B994-7CDF6525A512}">
      <dgm:prSet/>
      <dgm:spPr/>
      <dgm:t>
        <a:bodyPr/>
        <a:lstStyle/>
        <a:p>
          <a:endParaRPr lang="en-US" dirty="0"/>
        </a:p>
      </dgm:t>
    </dgm:pt>
    <dgm:pt modelId="{90FA4540-D8A3-4E3B-8D93-8FC49B60C517}" type="sibTrans" cxnId="{DE1DED18-E70A-409F-B994-7CDF6525A512}">
      <dgm:prSet/>
      <dgm:spPr/>
      <dgm:t>
        <a:bodyPr/>
        <a:lstStyle/>
        <a:p>
          <a:endParaRPr lang="en-US" dirty="0"/>
        </a:p>
      </dgm:t>
    </dgm:pt>
    <dgm:pt modelId="{0DE5F345-C5B2-4E1B-9D5A-FEACF5753D7B}">
      <dgm:prSet/>
      <dgm:spPr/>
      <dgm:t>
        <a:bodyPr/>
        <a:lstStyle/>
        <a:p>
          <a:pPr>
            <a:defRPr cap="all"/>
          </a:pPr>
          <a:r>
            <a:rPr lang="en-US" cap="none" dirty="0"/>
            <a:t>Analyze resilience of salaries despite market volatility.</a:t>
          </a:r>
        </a:p>
      </dgm:t>
    </dgm:pt>
    <dgm:pt modelId="{07F46D2C-EE2B-40FF-A5B7-971C55C4A73A}" type="parTrans" cxnId="{5CB38AD6-4EDC-4514-9568-AEC5EEE5CE17}">
      <dgm:prSet/>
      <dgm:spPr/>
      <dgm:t>
        <a:bodyPr/>
        <a:lstStyle/>
        <a:p>
          <a:endParaRPr lang="en-US" dirty="0"/>
        </a:p>
      </dgm:t>
    </dgm:pt>
    <dgm:pt modelId="{5539D402-4B3A-4A76-B6E1-78D2A008F3CA}" type="sibTrans" cxnId="{5CB38AD6-4EDC-4514-9568-AEC5EEE5CE17}">
      <dgm:prSet/>
      <dgm:spPr/>
      <dgm:t>
        <a:bodyPr/>
        <a:lstStyle/>
        <a:p>
          <a:endParaRPr lang="en-US" dirty="0"/>
        </a:p>
      </dgm:t>
    </dgm:pt>
    <dgm:pt modelId="{919E2E06-CE7B-4006-B1DD-A7572D1F58C9}">
      <dgm:prSet/>
      <dgm:spPr/>
      <dgm:t>
        <a:bodyPr/>
        <a:lstStyle/>
        <a:p>
          <a:pPr>
            <a:defRPr cap="all"/>
          </a:pPr>
          <a:r>
            <a:rPr lang="en-US" cap="none" dirty="0"/>
            <a:t>Essential for career strategy and understanding global disparities.</a:t>
          </a:r>
        </a:p>
      </dgm:t>
    </dgm:pt>
    <dgm:pt modelId="{9A87311F-00B0-4B9C-937F-8CFB4CDBEF23}" type="parTrans" cxnId="{BE846494-3BC5-48F6-BBCA-3A9BCCA7DA6C}">
      <dgm:prSet/>
      <dgm:spPr/>
      <dgm:t>
        <a:bodyPr/>
        <a:lstStyle/>
        <a:p>
          <a:endParaRPr lang="en-US" dirty="0"/>
        </a:p>
      </dgm:t>
    </dgm:pt>
    <dgm:pt modelId="{2D54EFDE-9BE4-4B1A-B874-728A31DC32BA}" type="sibTrans" cxnId="{BE846494-3BC5-48F6-BBCA-3A9BCCA7DA6C}">
      <dgm:prSet/>
      <dgm:spPr/>
      <dgm:t>
        <a:bodyPr/>
        <a:lstStyle/>
        <a:p>
          <a:endParaRPr lang="en-US" dirty="0"/>
        </a:p>
      </dgm:t>
    </dgm:pt>
    <dgm:pt modelId="{EBBC61EA-BCDB-4F6B-8B7F-2162EDCE9A04}">
      <dgm:prSet/>
      <dgm:spPr/>
      <dgm:t>
        <a:bodyPr/>
        <a:lstStyle/>
        <a:p>
          <a:pPr>
            <a:defRPr cap="all"/>
          </a:pPr>
          <a:r>
            <a:rPr lang="en-US" cap="none" dirty="0"/>
            <a:t>Visualization reveals hidden structures in economic data.</a:t>
          </a:r>
        </a:p>
      </dgm:t>
    </dgm:pt>
    <dgm:pt modelId="{B3A68E5A-23B4-4C84-87C1-AD35742ADF96}" type="parTrans" cxnId="{D39CF9D4-050C-4558-A6B5-D10B676B2605}">
      <dgm:prSet/>
      <dgm:spPr/>
      <dgm:t>
        <a:bodyPr/>
        <a:lstStyle/>
        <a:p>
          <a:endParaRPr lang="en-US" dirty="0"/>
        </a:p>
      </dgm:t>
    </dgm:pt>
    <dgm:pt modelId="{BEFC90C4-D446-4340-A94A-F32F1B7A512E}" type="sibTrans" cxnId="{D39CF9D4-050C-4558-A6B5-D10B676B2605}">
      <dgm:prSet/>
      <dgm:spPr/>
      <dgm:t>
        <a:bodyPr/>
        <a:lstStyle/>
        <a:p>
          <a:endParaRPr lang="en-US" dirty="0"/>
        </a:p>
      </dgm:t>
    </dgm:pt>
    <dgm:pt modelId="{030BB1AC-B140-4738-AB84-F53D9E52CC15}" type="pres">
      <dgm:prSet presAssocID="{91D343D4-713F-4A52-A32D-60CE36FCF40E}" presName="root" presStyleCnt="0">
        <dgm:presLayoutVars>
          <dgm:dir/>
          <dgm:resizeHandles val="exact"/>
        </dgm:presLayoutVars>
      </dgm:prSet>
      <dgm:spPr/>
    </dgm:pt>
    <dgm:pt modelId="{EDF0DD66-2D92-41F6-97B6-C118D9F24E02}" type="pres">
      <dgm:prSet presAssocID="{EFAB55F2-4BC9-4F10-BC74-3AF823590F8A}" presName="compNode" presStyleCnt="0"/>
      <dgm:spPr/>
    </dgm:pt>
    <dgm:pt modelId="{A579D4BD-2235-421E-A608-02FDBC684FA0}" type="pres">
      <dgm:prSet presAssocID="{EFAB55F2-4BC9-4F10-BC74-3AF823590F8A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4E48E26-194F-4F32-A990-14DE532A18EC}" type="pres">
      <dgm:prSet presAssocID="{EFAB55F2-4BC9-4F10-BC74-3AF823590F8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6BB7BEB0-2278-497A-8BC0-E0DDBBC9C822}" type="pres">
      <dgm:prSet presAssocID="{EFAB55F2-4BC9-4F10-BC74-3AF823590F8A}" presName="spaceRect" presStyleCnt="0"/>
      <dgm:spPr/>
    </dgm:pt>
    <dgm:pt modelId="{CF15A9A8-F862-460D-A892-E69DBB6F98DD}" type="pres">
      <dgm:prSet presAssocID="{EFAB55F2-4BC9-4F10-BC74-3AF823590F8A}" presName="textRect" presStyleLbl="revTx" presStyleIdx="0" presStyleCnt="4">
        <dgm:presLayoutVars>
          <dgm:chMax val="1"/>
          <dgm:chPref val="1"/>
        </dgm:presLayoutVars>
      </dgm:prSet>
      <dgm:spPr/>
    </dgm:pt>
    <dgm:pt modelId="{E31E6DBA-BB0A-4D2C-AC0E-52BE4636B444}" type="pres">
      <dgm:prSet presAssocID="{90FA4540-D8A3-4E3B-8D93-8FC49B60C517}" presName="sibTrans" presStyleCnt="0"/>
      <dgm:spPr/>
    </dgm:pt>
    <dgm:pt modelId="{8B7B874B-81A0-4EBE-8F9E-AC186FEF9363}" type="pres">
      <dgm:prSet presAssocID="{0DE5F345-C5B2-4E1B-9D5A-FEACF5753D7B}" presName="compNode" presStyleCnt="0"/>
      <dgm:spPr/>
    </dgm:pt>
    <dgm:pt modelId="{4F87ED0A-831B-46A1-AA96-11E49C8C01E3}" type="pres">
      <dgm:prSet presAssocID="{0DE5F345-C5B2-4E1B-9D5A-FEACF5753D7B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068AE2C-A209-4407-A0D0-EAE0A9C8AB43}" type="pres">
      <dgm:prSet presAssocID="{0DE5F345-C5B2-4E1B-9D5A-FEACF5753D7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7343AAA-DE6A-4905-9185-262674BAE8C6}" type="pres">
      <dgm:prSet presAssocID="{0DE5F345-C5B2-4E1B-9D5A-FEACF5753D7B}" presName="spaceRect" presStyleCnt="0"/>
      <dgm:spPr/>
    </dgm:pt>
    <dgm:pt modelId="{1E8C26D3-8817-41C6-8443-A782BF94C88A}" type="pres">
      <dgm:prSet presAssocID="{0DE5F345-C5B2-4E1B-9D5A-FEACF5753D7B}" presName="textRect" presStyleLbl="revTx" presStyleIdx="1" presStyleCnt="4">
        <dgm:presLayoutVars>
          <dgm:chMax val="1"/>
          <dgm:chPref val="1"/>
        </dgm:presLayoutVars>
      </dgm:prSet>
      <dgm:spPr/>
    </dgm:pt>
    <dgm:pt modelId="{1DBBD770-ED91-4DFE-BF33-123A67613259}" type="pres">
      <dgm:prSet presAssocID="{5539D402-4B3A-4A76-B6E1-78D2A008F3CA}" presName="sibTrans" presStyleCnt="0"/>
      <dgm:spPr/>
    </dgm:pt>
    <dgm:pt modelId="{39433241-0E7D-4AB5-828D-3EFF6B6FB67B}" type="pres">
      <dgm:prSet presAssocID="{919E2E06-CE7B-4006-B1DD-A7572D1F58C9}" presName="compNode" presStyleCnt="0"/>
      <dgm:spPr/>
    </dgm:pt>
    <dgm:pt modelId="{73126281-B972-4FC2-A0F7-351773EA5BEB}" type="pres">
      <dgm:prSet presAssocID="{919E2E06-CE7B-4006-B1DD-A7572D1F58C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EAA08D3-3902-4515-8783-384C30108BEF}" type="pres">
      <dgm:prSet presAssocID="{919E2E06-CE7B-4006-B1DD-A7572D1F58C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B1BCA282-D58F-43B8-B28A-081C0BA7F425}" type="pres">
      <dgm:prSet presAssocID="{919E2E06-CE7B-4006-B1DD-A7572D1F58C9}" presName="spaceRect" presStyleCnt="0"/>
      <dgm:spPr/>
    </dgm:pt>
    <dgm:pt modelId="{78F56DD1-05AC-4113-B49A-6CEF5FBB8107}" type="pres">
      <dgm:prSet presAssocID="{919E2E06-CE7B-4006-B1DD-A7572D1F58C9}" presName="textRect" presStyleLbl="revTx" presStyleIdx="2" presStyleCnt="4">
        <dgm:presLayoutVars>
          <dgm:chMax val="1"/>
          <dgm:chPref val="1"/>
        </dgm:presLayoutVars>
      </dgm:prSet>
      <dgm:spPr/>
    </dgm:pt>
    <dgm:pt modelId="{373393B5-2E6F-4885-8F2A-6848DA0A2BD6}" type="pres">
      <dgm:prSet presAssocID="{2D54EFDE-9BE4-4B1A-B874-728A31DC32BA}" presName="sibTrans" presStyleCnt="0"/>
      <dgm:spPr/>
    </dgm:pt>
    <dgm:pt modelId="{858D3060-3BE5-4142-913A-70A3556456DB}" type="pres">
      <dgm:prSet presAssocID="{EBBC61EA-BCDB-4F6B-8B7F-2162EDCE9A04}" presName="compNode" presStyleCnt="0"/>
      <dgm:spPr/>
    </dgm:pt>
    <dgm:pt modelId="{1DE6670E-57AA-47B8-8AE7-0AD6273F231A}" type="pres">
      <dgm:prSet presAssocID="{EBBC61EA-BCDB-4F6B-8B7F-2162EDCE9A0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5E0ED99-E70C-4C17-AA1B-303D8BB3D77C}" type="pres">
      <dgm:prSet presAssocID="{EBBC61EA-BCDB-4F6B-8B7F-2162EDCE9A0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7B3FF2B-7A3E-4B88-A81C-875930ED0797}" type="pres">
      <dgm:prSet presAssocID="{EBBC61EA-BCDB-4F6B-8B7F-2162EDCE9A04}" presName="spaceRect" presStyleCnt="0"/>
      <dgm:spPr/>
    </dgm:pt>
    <dgm:pt modelId="{8D05B4D3-1A5F-4452-88EF-B669CF6CA85A}" type="pres">
      <dgm:prSet presAssocID="{EBBC61EA-BCDB-4F6B-8B7F-2162EDCE9A0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E1DED18-E70A-409F-B994-7CDF6525A512}" srcId="{91D343D4-713F-4A52-A32D-60CE36FCF40E}" destId="{EFAB55F2-4BC9-4F10-BC74-3AF823590F8A}" srcOrd="0" destOrd="0" parTransId="{0CB19978-9867-448C-9D89-A5B03767155C}" sibTransId="{90FA4540-D8A3-4E3B-8D93-8FC49B60C517}"/>
    <dgm:cxn modelId="{842D9D4E-6CE8-49CE-9461-93307D0970E2}" type="presOf" srcId="{91D343D4-713F-4A52-A32D-60CE36FCF40E}" destId="{030BB1AC-B140-4738-AB84-F53D9E52CC15}" srcOrd="0" destOrd="0" presId="urn:microsoft.com/office/officeart/2018/5/layout/IconLeafLabelList"/>
    <dgm:cxn modelId="{0EAD8258-29CE-40D1-9CFD-6A5A8E4A57CD}" type="presOf" srcId="{0DE5F345-C5B2-4E1B-9D5A-FEACF5753D7B}" destId="{1E8C26D3-8817-41C6-8443-A782BF94C88A}" srcOrd="0" destOrd="0" presId="urn:microsoft.com/office/officeart/2018/5/layout/IconLeafLabelList"/>
    <dgm:cxn modelId="{BE846494-3BC5-48F6-BBCA-3A9BCCA7DA6C}" srcId="{91D343D4-713F-4A52-A32D-60CE36FCF40E}" destId="{919E2E06-CE7B-4006-B1DD-A7572D1F58C9}" srcOrd="2" destOrd="0" parTransId="{9A87311F-00B0-4B9C-937F-8CFB4CDBEF23}" sibTransId="{2D54EFDE-9BE4-4B1A-B874-728A31DC32BA}"/>
    <dgm:cxn modelId="{6CE0AFA1-8DDA-4A76-9837-0550A14FD4CC}" type="presOf" srcId="{EBBC61EA-BCDB-4F6B-8B7F-2162EDCE9A04}" destId="{8D05B4D3-1A5F-4452-88EF-B669CF6CA85A}" srcOrd="0" destOrd="0" presId="urn:microsoft.com/office/officeart/2018/5/layout/IconLeafLabelList"/>
    <dgm:cxn modelId="{2763EAD1-71A4-4434-9706-CE16D77E166F}" type="presOf" srcId="{919E2E06-CE7B-4006-B1DD-A7572D1F58C9}" destId="{78F56DD1-05AC-4113-B49A-6CEF5FBB8107}" srcOrd="0" destOrd="0" presId="urn:microsoft.com/office/officeart/2018/5/layout/IconLeafLabelList"/>
    <dgm:cxn modelId="{D39CF9D4-050C-4558-A6B5-D10B676B2605}" srcId="{91D343D4-713F-4A52-A32D-60CE36FCF40E}" destId="{EBBC61EA-BCDB-4F6B-8B7F-2162EDCE9A04}" srcOrd="3" destOrd="0" parTransId="{B3A68E5A-23B4-4C84-87C1-AD35742ADF96}" sibTransId="{BEFC90C4-D446-4340-A94A-F32F1B7A512E}"/>
    <dgm:cxn modelId="{5CB38AD6-4EDC-4514-9568-AEC5EEE5CE17}" srcId="{91D343D4-713F-4A52-A32D-60CE36FCF40E}" destId="{0DE5F345-C5B2-4E1B-9D5A-FEACF5753D7B}" srcOrd="1" destOrd="0" parTransId="{07F46D2C-EE2B-40FF-A5B7-971C55C4A73A}" sibTransId="{5539D402-4B3A-4A76-B6E1-78D2A008F3CA}"/>
    <dgm:cxn modelId="{8A9D60F5-8EAC-41D5-B2E5-84DABB8C2ED4}" type="presOf" srcId="{EFAB55F2-4BC9-4F10-BC74-3AF823590F8A}" destId="{CF15A9A8-F862-460D-A892-E69DBB6F98DD}" srcOrd="0" destOrd="0" presId="urn:microsoft.com/office/officeart/2018/5/layout/IconLeafLabelList"/>
    <dgm:cxn modelId="{653BE52E-F974-4581-9DFD-0023BB683AA9}" type="presParOf" srcId="{030BB1AC-B140-4738-AB84-F53D9E52CC15}" destId="{EDF0DD66-2D92-41F6-97B6-C118D9F24E02}" srcOrd="0" destOrd="0" presId="urn:microsoft.com/office/officeart/2018/5/layout/IconLeafLabelList"/>
    <dgm:cxn modelId="{9E21955F-F4BE-401B-B469-C2FD0F2715CA}" type="presParOf" srcId="{EDF0DD66-2D92-41F6-97B6-C118D9F24E02}" destId="{A579D4BD-2235-421E-A608-02FDBC684FA0}" srcOrd="0" destOrd="0" presId="urn:microsoft.com/office/officeart/2018/5/layout/IconLeafLabelList"/>
    <dgm:cxn modelId="{966ADF76-FDC9-4507-B20D-237E2713E957}" type="presParOf" srcId="{EDF0DD66-2D92-41F6-97B6-C118D9F24E02}" destId="{44E48E26-194F-4F32-A990-14DE532A18EC}" srcOrd="1" destOrd="0" presId="urn:microsoft.com/office/officeart/2018/5/layout/IconLeafLabelList"/>
    <dgm:cxn modelId="{7A285C31-E56F-4372-AF59-DFC609B5C35F}" type="presParOf" srcId="{EDF0DD66-2D92-41F6-97B6-C118D9F24E02}" destId="{6BB7BEB0-2278-497A-8BC0-E0DDBBC9C822}" srcOrd="2" destOrd="0" presId="urn:microsoft.com/office/officeart/2018/5/layout/IconLeafLabelList"/>
    <dgm:cxn modelId="{9799FC1D-625E-4590-AA41-133CBFAD7CB2}" type="presParOf" srcId="{EDF0DD66-2D92-41F6-97B6-C118D9F24E02}" destId="{CF15A9A8-F862-460D-A892-E69DBB6F98DD}" srcOrd="3" destOrd="0" presId="urn:microsoft.com/office/officeart/2018/5/layout/IconLeafLabelList"/>
    <dgm:cxn modelId="{8DD1DD22-F6FB-49FC-A914-ABC81D84F5B1}" type="presParOf" srcId="{030BB1AC-B140-4738-AB84-F53D9E52CC15}" destId="{E31E6DBA-BB0A-4D2C-AC0E-52BE4636B444}" srcOrd="1" destOrd="0" presId="urn:microsoft.com/office/officeart/2018/5/layout/IconLeafLabelList"/>
    <dgm:cxn modelId="{054493F5-41D0-40B0-8C34-9130EEBE9825}" type="presParOf" srcId="{030BB1AC-B140-4738-AB84-F53D9E52CC15}" destId="{8B7B874B-81A0-4EBE-8F9E-AC186FEF9363}" srcOrd="2" destOrd="0" presId="urn:microsoft.com/office/officeart/2018/5/layout/IconLeafLabelList"/>
    <dgm:cxn modelId="{111B7E5E-A722-4DC7-A034-467B8FD9D62E}" type="presParOf" srcId="{8B7B874B-81A0-4EBE-8F9E-AC186FEF9363}" destId="{4F87ED0A-831B-46A1-AA96-11E49C8C01E3}" srcOrd="0" destOrd="0" presId="urn:microsoft.com/office/officeart/2018/5/layout/IconLeafLabelList"/>
    <dgm:cxn modelId="{194B8611-98DB-4010-AA0C-5801F1D5517F}" type="presParOf" srcId="{8B7B874B-81A0-4EBE-8F9E-AC186FEF9363}" destId="{5068AE2C-A209-4407-A0D0-EAE0A9C8AB43}" srcOrd="1" destOrd="0" presId="urn:microsoft.com/office/officeart/2018/5/layout/IconLeafLabelList"/>
    <dgm:cxn modelId="{19B2054B-013D-49AD-B134-D341E86C04FD}" type="presParOf" srcId="{8B7B874B-81A0-4EBE-8F9E-AC186FEF9363}" destId="{E7343AAA-DE6A-4905-9185-262674BAE8C6}" srcOrd="2" destOrd="0" presId="urn:microsoft.com/office/officeart/2018/5/layout/IconLeafLabelList"/>
    <dgm:cxn modelId="{FFFD1B28-1C11-41C6-828E-CFA53E746C03}" type="presParOf" srcId="{8B7B874B-81A0-4EBE-8F9E-AC186FEF9363}" destId="{1E8C26D3-8817-41C6-8443-A782BF94C88A}" srcOrd="3" destOrd="0" presId="urn:microsoft.com/office/officeart/2018/5/layout/IconLeafLabelList"/>
    <dgm:cxn modelId="{51C55AC2-CB74-43AE-8FA0-E4E48759D89A}" type="presParOf" srcId="{030BB1AC-B140-4738-AB84-F53D9E52CC15}" destId="{1DBBD770-ED91-4DFE-BF33-123A67613259}" srcOrd="3" destOrd="0" presId="urn:microsoft.com/office/officeart/2018/5/layout/IconLeafLabelList"/>
    <dgm:cxn modelId="{B7C298A0-15F1-4EAF-851B-B94B56BCD078}" type="presParOf" srcId="{030BB1AC-B140-4738-AB84-F53D9E52CC15}" destId="{39433241-0E7D-4AB5-828D-3EFF6B6FB67B}" srcOrd="4" destOrd="0" presId="urn:microsoft.com/office/officeart/2018/5/layout/IconLeafLabelList"/>
    <dgm:cxn modelId="{E8F1C0F7-AFBA-4169-99D0-AA47911F35F7}" type="presParOf" srcId="{39433241-0E7D-4AB5-828D-3EFF6B6FB67B}" destId="{73126281-B972-4FC2-A0F7-351773EA5BEB}" srcOrd="0" destOrd="0" presId="urn:microsoft.com/office/officeart/2018/5/layout/IconLeafLabelList"/>
    <dgm:cxn modelId="{440339E7-C64C-4529-86EC-3AB1D027FCEA}" type="presParOf" srcId="{39433241-0E7D-4AB5-828D-3EFF6B6FB67B}" destId="{3EAA08D3-3902-4515-8783-384C30108BEF}" srcOrd="1" destOrd="0" presId="urn:microsoft.com/office/officeart/2018/5/layout/IconLeafLabelList"/>
    <dgm:cxn modelId="{9D793846-BF26-4A54-948A-06951FBB39AB}" type="presParOf" srcId="{39433241-0E7D-4AB5-828D-3EFF6B6FB67B}" destId="{B1BCA282-D58F-43B8-B28A-081C0BA7F425}" srcOrd="2" destOrd="0" presId="urn:microsoft.com/office/officeart/2018/5/layout/IconLeafLabelList"/>
    <dgm:cxn modelId="{99025D86-D230-4B3C-A64B-7E8B012D0C0A}" type="presParOf" srcId="{39433241-0E7D-4AB5-828D-3EFF6B6FB67B}" destId="{78F56DD1-05AC-4113-B49A-6CEF5FBB8107}" srcOrd="3" destOrd="0" presId="urn:microsoft.com/office/officeart/2018/5/layout/IconLeafLabelList"/>
    <dgm:cxn modelId="{4B077A8E-3A6C-4D23-BC3F-CA18A0405A02}" type="presParOf" srcId="{030BB1AC-B140-4738-AB84-F53D9E52CC15}" destId="{373393B5-2E6F-4885-8F2A-6848DA0A2BD6}" srcOrd="5" destOrd="0" presId="urn:microsoft.com/office/officeart/2018/5/layout/IconLeafLabelList"/>
    <dgm:cxn modelId="{B85FAF93-F3E5-4A82-8332-6E8236B58FA4}" type="presParOf" srcId="{030BB1AC-B140-4738-AB84-F53D9E52CC15}" destId="{858D3060-3BE5-4142-913A-70A3556456DB}" srcOrd="6" destOrd="0" presId="urn:microsoft.com/office/officeart/2018/5/layout/IconLeafLabelList"/>
    <dgm:cxn modelId="{25BC2934-EB4D-466C-BDB4-9B4E47F75A63}" type="presParOf" srcId="{858D3060-3BE5-4142-913A-70A3556456DB}" destId="{1DE6670E-57AA-47B8-8AE7-0AD6273F231A}" srcOrd="0" destOrd="0" presId="urn:microsoft.com/office/officeart/2018/5/layout/IconLeafLabelList"/>
    <dgm:cxn modelId="{B2305565-0240-411B-A8C0-0CC225345768}" type="presParOf" srcId="{858D3060-3BE5-4142-913A-70A3556456DB}" destId="{B5E0ED99-E70C-4C17-AA1B-303D8BB3D77C}" srcOrd="1" destOrd="0" presId="urn:microsoft.com/office/officeart/2018/5/layout/IconLeafLabelList"/>
    <dgm:cxn modelId="{C1E42A1A-2F3D-4A90-A66F-269C07DD9965}" type="presParOf" srcId="{858D3060-3BE5-4142-913A-70A3556456DB}" destId="{07B3FF2B-7A3E-4B88-A81C-875930ED0797}" srcOrd="2" destOrd="0" presId="urn:microsoft.com/office/officeart/2018/5/layout/IconLeafLabelList"/>
    <dgm:cxn modelId="{AD46D291-AD87-43A9-A653-891B2BD08BCF}" type="presParOf" srcId="{858D3060-3BE5-4142-913A-70A3556456DB}" destId="{8D05B4D3-1A5F-4452-88EF-B669CF6CA85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FADD30-A010-454E-9E27-726C08C26811}" type="doc">
      <dgm:prSet loTypeId="urn:microsoft.com/office/officeart/2008/layout/LinedList" loCatId="hierarchy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BFF3998-E3E0-462A-8A61-F7D290FBD796}">
      <dgm:prSet custT="1"/>
      <dgm:spPr/>
      <dgm:t>
        <a:bodyPr/>
        <a:lstStyle/>
        <a:p>
          <a:r>
            <a:rPr lang="en-US" sz="2000" dirty="0"/>
            <a:t>Dataset 1: Tech Layoffs (Kaggle)</a:t>
          </a:r>
        </a:p>
      </dgm:t>
    </dgm:pt>
    <dgm:pt modelId="{BED9C85E-8638-454A-9D99-C8D8C3F2797A}" type="sibTrans" cxnId="{F2BDE213-4E1A-4404-86C3-4CE7B9B33E56}">
      <dgm:prSet/>
      <dgm:spPr/>
      <dgm:t>
        <a:bodyPr/>
        <a:lstStyle/>
        <a:p>
          <a:endParaRPr lang="en-US"/>
        </a:p>
      </dgm:t>
    </dgm:pt>
    <dgm:pt modelId="{FD5160E6-DDB6-4B0F-A74B-12F3EDD65FA7}" type="parTrans" cxnId="{F2BDE213-4E1A-4404-86C3-4CE7B9B33E56}">
      <dgm:prSet/>
      <dgm:spPr/>
      <dgm:t>
        <a:bodyPr/>
        <a:lstStyle/>
        <a:p>
          <a:endParaRPr lang="en-US"/>
        </a:p>
      </dgm:t>
    </dgm:pt>
    <dgm:pt modelId="{BCE70B3E-FD53-430C-908B-792063B3A1AC}">
      <dgm:prSet/>
      <dgm:spPr/>
      <dgm:t>
        <a:bodyPr/>
        <a:lstStyle/>
        <a:p>
          <a:r>
            <a:rPr lang="en-US" dirty="0"/>
            <a:t>Timeline: 2020 - 2025</a:t>
          </a:r>
        </a:p>
      </dgm:t>
    </dgm:pt>
    <dgm:pt modelId="{A2865E45-82E6-498C-B758-C7A5709543A4}" type="sibTrans" cxnId="{3812734A-9CFD-40BC-B9AE-217DA229D1AC}">
      <dgm:prSet/>
      <dgm:spPr/>
      <dgm:t>
        <a:bodyPr/>
        <a:lstStyle/>
        <a:p>
          <a:endParaRPr lang="en-US"/>
        </a:p>
      </dgm:t>
    </dgm:pt>
    <dgm:pt modelId="{6871B808-EFF7-4D10-8618-4A53B34F7312}" type="parTrans" cxnId="{3812734A-9CFD-40BC-B9AE-217DA229D1AC}">
      <dgm:prSet/>
      <dgm:spPr/>
      <dgm:t>
        <a:bodyPr/>
        <a:lstStyle/>
        <a:p>
          <a:endParaRPr lang="en-US"/>
        </a:p>
      </dgm:t>
    </dgm:pt>
    <dgm:pt modelId="{D469C146-632C-407B-A5D4-100B9F730FAC}">
      <dgm:prSet/>
      <dgm:spPr/>
      <dgm:t>
        <a:bodyPr/>
        <a:lstStyle/>
        <a:p>
          <a:r>
            <a:rPr lang="en-US" dirty="0"/>
            <a:t>Fields: Company, Industry, Count, Country</a:t>
          </a:r>
        </a:p>
      </dgm:t>
    </dgm:pt>
    <dgm:pt modelId="{70898BBE-0A6D-4938-8BBF-2FA9D82CF261}" type="sibTrans" cxnId="{457E1173-2FA8-446E-8E52-F73E92442C13}">
      <dgm:prSet/>
      <dgm:spPr/>
      <dgm:t>
        <a:bodyPr/>
        <a:lstStyle/>
        <a:p>
          <a:endParaRPr lang="en-US"/>
        </a:p>
      </dgm:t>
    </dgm:pt>
    <dgm:pt modelId="{D175D313-EE46-439B-BFD3-F98E9C3D1A6D}" type="parTrans" cxnId="{457E1173-2FA8-446E-8E52-F73E92442C13}">
      <dgm:prSet/>
      <dgm:spPr/>
      <dgm:t>
        <a:bodyPr/>
        <a:lstStyle/>
        <a:p>
          <a:endParaRPr lang="en-US"/>
        </a:p>
      </dgm:t>
    </dgm:pt>
    <dgm:pt modelId="{013DDEA0-EE4E-4D14-B545-693B393B6C0C}">
      <dgm:prSet custT="1"/>
      <dgm:spPr/>
      <dgm:t>
        <a:bodyPr/>
        <a:lstStyle/>
        <a:p>
          <a:r>
            <a:rPr lang="en-US" sz="2000" dirty="0"/>
            <a:t>Dataset 2: Data Jobs (Kaggle)</a:t>
          </a:r>
        </a:p>
      </dgm:t>
    </dgm:pt>
    <dgm:pt modelId="{873A343B-8491-400A-B0EF-E15C62FBD9B2}" type="sibTrans" cxnId="{B59724B1-6F4F-4000-ADB0-58F013D189BF}">
      <dgm:prSet/>
      <dgm:spPr/>
      <dgm:t>
        <a:bodyPr/>
        <a:lstStyle/>
        <a:p>
          <a:endParaRPr lang="en-US"/>
        </a:p>
      </dgm:t>
    </dgm:pt>
    <dgm:pt modelId="{7FEBBBBC-387A-4861-85E3-55CC9361D319}" type="parTrans" cxnId="{B59724B1-6F4F-4000-ADB0-58F013D189BF}">
      <dgm:prSet/>
      <dgm:spPr/>
      <dgm:t>
        <a:bodyPr/>
        <a:lstStyle/>
        <a:p>
          <a:endParaRPr lang="en-US"/>
        </a:p>
      </dgm:t>
    </dgm:pt>
    <dgm:pt modelId="{AA9EC354-7FE5-4C89-A116-502EC99C83EE}">
      <dgm:prSet/>
      <dgm:spPr/>
      <dgm:t>
        <a:bodyPr/>
        <a:lstStyle/>
        <a:p>
          <a:r>
            <a:rPr lang="en-US" dirty="0"/>
            <a:t>Timeline: 2020 - 2023</a:t>
          </a:r>
        </a:p>
      </dgm:t>
    </dgm:pt>
    <dgm:pt modelId="{2215C102-30D6-4A59-AE4A-F0A4D9B4D063}" type="sibTrans" cxnId="{290FB33B-17D8-4E53-A8F5-F0332A537132}">
      <dgm:prSet/>
      <dgm:spPr/>
      <dgm:t>
        <a:bodyPr/>
        <a:lstStyle/>
        <a:p>
          <a:endParaRPr lang="en-US"/>
        </a:p>
      </dgm:t>
    </dgm:pt>
    <dgm:pt modelId="{B5BF1DEE-2975-450D-8C95-3FA4D8D8247B}" type="parTrans" cxnId="{290FB33B-17D8-4E53-A8F5-F0332A537132}">
      <dgm:prSet/>
      <dgm:spPr/>
      <dgm:t>
        <a:bodyPr/>
        <a:lstStyle/>
        <a:p>
          <a:endParaRPr lang="en-US"/>
        </a:p>
      </dgm:t>
    </dgm:pt>
    <dgm:pt modelId="{391D9908-1C0B-4668-A8C3-C2A0AA120D56}">
      <dgm:prSet/>
      <dgm:spPr/>
      <dgm:t>
        <a:bodyPr/>
        <a:lstStyle/>
        <a:p>
          <a:r>
            <a:rPr lang="en-US" dirty="0"/>
            <a:t>Fields: Title, Salary, Experience, Work Setting</a:t>
          </a:r>
        </a:p>
      </dgm:t>
    </dgm:pt>
    <dgm:pt modelId="{CD3C8996-E59C-4B54-B0FB-BC6B107B7A73}" type="sibTrans" cxnId="{35C62F84-0D09-48D2-B6A9-65E34335CDB6}">
      <dgm:prSet/>
      <dgm:spPr/>
      <dgm:t>
        <a:bodyPr/>
        <a:lstStyle/>
        <a:p>
          <a:endParaRPr lang="en-US"/>
        </a:p>
      </dgm:t>
    </dgm:pt>
    <dgm:pt modelId="{54A851C1-C8EB-4E59-B05F-15C0E0995C1B}" type="parTrans" cxnId="{35C62F84-0D09-48D2-B6A9-65E34335CDB6}">
      <dgm:prSet/>
      <dgm:spPr/>
      <dgm:t>
        <a:bodyPr/>
        <a:lstStyle/>
        <a:p>
          <a:endParaRPr lang="en-US"/>
        </a:p>
      </dgm:t>
    </dgm:pt>
    <dgm:pt modelId="{BA1A9318-BC87-CD46-8790-7A5843985ACE}" type="pres">
      <dgm:prSet presAssocID="{4FFADD30-A010-454E-9E27-726C08C26811}" presName="vert0" presStyleCnt="0">
        <dgm:presLayoutVars>
          <dgm:dir/>
          <dgm:animOne val="branch"/>
          <dgm:animLvl val="lvl"/>
        </dgm:presLayoutVars>
      </dgm:prSet>
      <dgm:spPr/>
    </dgm:pt>
    <dgm:pt modelId="{EA139CB7-2911-BB40-B06F-5F83286D8E12}" type="pres">
      <dgm:prSet presAssocID="{3BFF3998-E3E0-462A-8A61-F7D290FBD796}" presName="thickLine" presStyleLbl="alignNode1" presStyleIdx="0" presStyleCnt="2"/>
      <dgm:spPr/>
    </dgm:pt>
    <dgm:pt modelId="{837291AE-EE7F-424F-A7A8-D26C878A778B}" type="pres">
      <dgm:prSet presAssocID="{3BFF3998-E3E0-462A-8A61-F7D290FBD796}" presName="horz1" presStyleCnt="0"/>
      <dgm:spPr/>
    </dgm:pt>
    <dgm:pt modelId="{597E7E71-7148-F14F-A0DB-12CB2CCF11AC}" type="pres">
      <dgm:prSet presAssocID="{3BFF3998-E3E0-462A-8A61-F7D290FBD796}" presName="tx1" presStyleLbl="revTx" presStyleIdx="0" presStyleCnt="6"/>
      <dgm:spPr/>
    </dgm:pt>
    <dgm:pt modelId="{8A045C89-1AE2-FD4F-906D-F5D6407BB9BF}" type="pres">
      <dgm:prSet presAssocID="{3BFF3998-E3E0-462A-8A61-F7D290FBD796}" presName="vert1" presStyleCnt="0"/>
      <dgm:spPr/>
    </dgm:pt>
    <dgm:pt modelId="{2098059B-4B7D-E84B-A3DA-4466596787B9}" type="pres">
      <dgm:prSet presAssocID="{BCE70B3E-FD53-430C-908B-792063B3A1AC}" presName="vertSpace2a" presStyleCnt="0"/>
      <dgm:spPr/>
    </dgm:pt>
    <dgm:pt modelId="{B1C541AA-160A-EF4A-99FC-7C037EA06AA2}" type="pres">
      <dgm:prSet presAssocID="{BCE70B3E-FD53-430C-908B-792063B3A1AC}" presName="horz2" presStyleCnt="0"/>
      <dgm:spPr/>
    </dgm:pt>
    <dgm:pt modelId="{07DDF446-CE59-6645-8CDC-813780E9477E}" type="pres">
      <dgm:prSet presAssocID="{BCE70B3E-FD53-430C-908B-792063B3A1AC}" presName="horzSpace2" presStyleCnt="0"/>
      <dgm:spPr/>
    </dgm:pt>
    <dgm:pt modelId="{558917CC-774F-5F43-95C8-E44CD2C72476}" type="pres">
      <dgm:prSet presAssocID="{BCE70B3E-FD53-430C-908B-792063B3A1AC}" presName="tx2" presStyleLbl="revTx" presStyleIdx="1" presStyleCnt="6"/>
      <dgm:spPr/>
    </dgm:pt>
    <dgm:pt modelId="{A97DC3DF-71E3-3D4B-9BA4-B645D7E222E4}" type="pres">
      <dgm:prSet presAssocID="{BCE70B3E-FD53-430C-908B-792063B3A1AC}" presName="vert2" presStyleCnt="0"/>
      <dgm:spPr/>
    </dgm:pt>
    <dgm:pt modelId="{41ABC6AA-64A9-DD46-96C0-250B4F257813}" type="pres">
      <dgm:prSet presAssocID="{BCE70B3E-FD53-430C-908B-792063B3A1AC}" presName="thinLine2b" presStyleLbl="callout" presStyleIdx="0" presStyleCnt="4"/>
      <dgm:spPr/>
    </dgm:pt>
    <dgm:pt modelId="{97CD3583-81C1-4946-8515-896E705D325C}" type="pres">
      <dgm:prSet presAssocID="{BCE70B3E-FD53-430C-908B-792063B3A1AC}" presName="vertSpace2b" presStyleCnt="0"/>
      <dgm:spPr/>
    </dgm:pt>
    <dgm:pt modelId="{82892402-16E2-3146-A6AF-4E5CBDD5C726}" type="pres">
      <dgm:prSet presAssocID="{D469C146-632C-407B-A5D4-100B9F730FAC}" presName="horz2" presStyleCnt="0"/>
      <dgm:spPr/>
    </dgm:pt>
    <dgm:pt modelId="{F69031FC-C421-814B-BA11-DCDDB5AB8921}" type="pres">
      <dgm:prSet presAssocID="{D469C146-632C-407B-A5D4-100B9F730FAC}" presName="horzSpace2" presStyleCnt="0"/>
      <dgm:spPr/>
    </dgm:pt>
    <dgm:pt modelId="{9B740B3B-8D70-2A43-9E73-E5DDD6823234}" type="pres">
      <dgm:prSet presAssocID="{D469C146-632C-407B-A5D4-100B9F730FAC}" presName="tx2" presStyleLbl="revTx" presStyleIdx="2" presStyleCnt="6"/>
      <dgm:spPr/>
    </dgm:pt>
    <dgm:pt modelId="{8E193C03-409A-E246-AA95-637F2C8D83C1}" type="pres">
      <dgm:prSet presAssocID="{D469C146-632C-407B-A5D4-100B9F730FAC}" presName="vert2" presStyleCnt="0"/>
      <dgm:spPr/>
    </dgm:pt>
    <dgm:pt modelId="{6708D7C2-F363-9F43-80F7-2D8F4BEA9B8F}" type="pres">
      <dgm:prSet presAssocID="{D469C146-632C-407B-A5D4-100B9F730FAC}" presName="thinLine2b" presStyleLbl="callout" presStyleIdx="1" presStyleCnt="4"/>
      <dgm:spPr/>
    </dgm:pt>
    <dgm:pt modelId="{8803AF8C-F7FB-D64D-A419-A2A9DD00D7E3}" type="pres">
      <dgm:prSet presAssocID="{D469C146-632C-407B-A5D4-100B9F730FAC}" presName="vertSpace2b" presStyleCnt="0"/>
      <dgm:spPr/>
    </dgm:pt>
    <dgm:pt modelId="{C420EAF4-F23A-6E47-925C-E47B674DC9CB}" type="pres">
      <dgm:prSet presAssocID="{013DDEA0-EE4E-4D14-B545-693B393B6C0C}" presName="thickLine" presStyleLbl="alignNode1" presStyleIdx="1" presStyleCnt="2" custLinFactY="100000" custLinFactNeighborX="2541" custLinFactNeighborY="131337"/>
      <dgm:spPr/>
    </dgm:pt>
    <dgm:pt modelId="{9549F337-9B96-A447-83A7-8962AD611E4A}" type="pres">
      <dgm:prSet presAssocID="{013DDEA0-EE4E-4D14-B545-693B393B6C0C}" presName="horz1" presStyleCnt="0"/>
      <dgm:spPr/>
    </dgm:pt>
    <dgm:pt modelId="{9457226E-1801-B943-948C-FE2430971BF9}" type="pres">
      <dgm:prSet presAssocID="{013DDEA0-EE4E-4D14-B545-693B393B6C0C}" presName="tx1" presStyleLbl="revTx" presStyleIdx="3" presStyleCnt="6"/>
      <dgm:spPr/>
    </dgm:pt>
    <dgm:pt modelId="{6F240A53-962A-044E-8A4E-7E07B86C20BF}" type="pres">
      <dgm:prSet presAssocID="{013DDEA0-EE4E-4D14-B545-693B393B6C0C}" presName="vert1" presStyleCnt="0"/>
      <dgm:spPr/>
    </dgm:pt>
    <dgm:pt modelId="{9CA88AC1-B0B4-374C-A7FC-E0991821E081}" type="pres">
      <dgm:prSet presAssocID="{AA9EC354-7FE5-4C89-A116-502EC99C83EE}" presName="vertSpace2a" presStyleCnt="0"/>
      <dgm:spPr/>
    </dgm:pt>
    <dgm:pt modelId="{56C898F5-05D8-5F4A-ACBA-97C33072879A}" type="pres">
      <dgm:prSet presAssocID="{AA9EC354-7FE5-4C89-A116-502EC99C83EE}" presName="horz2" presStyleCnt="0"/>
      <dgm:spPr/>
    </dgm:pt>
    <dgm:pt modelId="{DA6F1C59-AAF7-824F-B4FE-C948492162F9}" type="pres">
      <dgm:prSet presAssocID="{AA9EC354-7FE5-4C89-A116-502EC99C83EE}" presName="horzSpace2" presStyleCnt="0"/>
      <dgm:spPr/>
    </dgm:pt>
    <dgm:pt modelId="{FB28EB17-B81E-8C4A-AF75-033824078829}" type="pres">
      <dgm:prSet presAssocID="{AA9EC354-7FE5-4C89-A116-502EC99C83EE}" presName="tx2" presStyleLbl="revTx" presStyleIdx="4" presStyleCnt="6"/>
      <dgm:spPr/>
    </dgm:pt>
    <dgm:pt modelId="{9982F34D-6CD6-2A4A-A534-0987EF5B9FD0}" type="pres">
      <dgm:prSet presAssocID="{AA9EC354-7FE5-4C89-A116-502EC99C83EE}" presName="vert2" presStyleCnt="0"/>
      <dgm:spPr/>
    </dgm:pt>
    <dgm:pt modelId="{04E96D03-3D7F-634E-B0E1-D30AAA6B8A6B}" type="pres">
      <dgm:prSet presAssocID="{AA9EC354-7FE5-4C89-A116-502EC99C83EE}" presName="thinLine2b" presStyleLbl="callout" presStyleIdx="2" presStyleCnt="4"/>
      <dgm:spPr/>
    </dgm:pt>
    <dgm:pt modelId="{DF45AC71-7BBF-CC4C-A8FD-6AA5FEA73D09}" type="pres">
      <dgm:prSet presAssocID="{AA9EC354-7FE5-4C89-A116-502EC99C83EE}" presName="vertSpace2b" presStyleCnt="0"/>
      <dgm:spPr/>
    </dgm:pt>
    <dgm:pt modelId="{41B3175C-8D84-6947-8F7A-87B5187CAFAE}" type="pres">
      <dgm:prSet presAssocID="{391D9908-1C0B-4668-A8C3-C2A0AA120D56}" presName="horz2" presStyleCnt="0"/>
      <dgm:spPr/>
    </dgm:pt>
    <dgm:pt modelId="{079CF27B-645A-0849-9811-4C154AE0C044}" type="pres">
      <dgm:prSet presAssocID="{391D9908-1C0B-4668-A8C3-C2A0AA120D56}" presName="horzSpace2" presStyleCnt="0"/>
      <dgm:spPr/>
    </dgm:pt>
    <dgm:pt modelId="{4BAF5CFF-AFA9-C345-A305-6B85551EF58C}" type="pres">
      <dgm:prSet presAssocID="{391D9908-1C0B-4668-A8C3-C2A0AA120D56}" presName="tx2" presStyleLbl="revTx" presStyleIdx="5" presStyleCnt="6"/>
      <dgm:spPr/>
    </dgm:pt>
    <dgm:pt modelId="{D882A3CB-13CA-444D-8F40-B79587B84FE1}" type="pres">
      <dgm:prSet presAssocID="{391D9908-1C0B-4668-A8C3-C2A0AA120D56}" presName="vert2" presStyleCnt="0"/>
      <dgm:spPr/>
    </dgm:pt>
    <dgm:pt modelId="{E218F5B4-CE56-C649-AE8F-FECDC08DF10C}" type="pres">
      <dgm:prSet presAssocID="{391D9908-1C0B-4668-A8C3-C2A0AA120D56}" presName="thinLine2b" presStyleLbl="callout" presStyleIdx="3" presStyleCnt="4"/>
      <dgm:spPr/>
    </dgm:pt>
    <dgm:pt modelId="{DFD2477D-5D23-7148-90F2-FB3F7AD6B26E}" type="pres">
      <dgm:prSet presAssocID="{391D9908-1C0B-4668-A8C3-C2A0AA120D56}" presName="vertSpace2b" presStyleCnt="0"/>
      <dgm:spPr/>
    </dgm:pt>
  </dgm:ptLst>
  <dgm:cxnLst>
    <dgm:cxn modelId="{829D850C-5363-2842-802D-31D30E4D1A83}" type="presOf" srcId="{013DDEA0-EE4E-4D14-B545-693B393B6C0C}" destId="{9457226E-1801-B943-948C-FE2430971BF9}" srcOrd="0" destOrd="0" presId="urn:microsoft.com/office/officeart/2008/layout/LinedList"/>
    <dgm:cxn modelId="{F2BDE213-4E1A-4404-86C3-4CE7B9B33E56}" srcId="{4FFADD30-A010-454E-9E27-726C08C26811}" destId="{3BFF3998-E3E0-462A-8A61-F7D290FBD796}" srcOrd="0" destOrd="0" parTransId="{FD5160E6-DDB6-4B0F-A74B-12F3EDD65FA7}" sibTransId="{BED9C85E-8638-454A-9D99-C8D8C3F2797A}"/>
    <dgm:cxn modelId="{FE5DB31F-1631-4548-9D82-4E941FFAB51F}" type="presOf" srcId="{391D9908-1C0B-4668-A8C3-C2A0AA120D56}" destId="{4BAF5CFF-AFA9-C345-A305-6B85551EF58C}" srcOrd="0" destOrd="0" presId="urn:microsoft.com/office/officeart/2008/layout/LinedList"/>
    <dgm:cxn modelId="{290FB33B-17D8-4E53-A8F5-F0332A537132}" srcId="{013DDEA0-EE4E-4D14-B545-693B393B6C0C}" destId="{AA9EC354-7FE5-4C89-A116-502EC99C83EE}" srcOrd="0" destOrd="0" parTransId="{B5BF1DEE-2975-450D-8C95-3FA4D8D8247B}" sibTransId="{2215C102-30D6-4A59-AE4A-F0A4D9B4D063}"/>
    <dgm:cxn modelId="{3812734A-9CFD-40BC-B9AE-217DA229D1AC}" srcId="{3BFF3998-E3E0-462A-8A61-F7D290FBD796}" destId="{BCE70B3E-FD53-430C-908B-792063B3A1AC}" srcOrd="0" destOrd="0" parTransId="{6871B808-EFF7-4D10-8618-4A53B34F7312}" sibTransId="{A2865E45-82E6-498C-B758-C7A5709543A4}"/>
    <dgm:cxn modelId="{CC89FE4E-CAD7-AD42-9D2D-4056F4E24D18}" type="presOf" srcId="{BCE70B3E-FD53-430C-908B-792063B3A1AC}" destId="{558917CC-774F-5F43-95C8-E44CD2C72476}" srcOrd="0" destOrd="0" presId="urn:microsoft.com/office/officeart/2008/layout/LinedList"/>
    <dgm:cxn modelId="{457E1173-2FA8-446E-8E52-F73E92442C13}" srcId="{3BFF3998-E3E0-462A-8A61-F7D290FBD796}" destId="{D469C146-632C-407B-A5D4-100B9F730FAC}" srcOrd="1" destOrd="0" parTransId="{D175D313-EE46-439B-BFD3-F98E9C3D1A6D}" sibTransId="{70898BBE-0A6D-4938-8BBF-2FA9D82CF261}"/>
    <dgm:cxn modelId="{35C62F84-0D09-48D2-B6A9-65E34335CDB6}" srcId="{013DDEA0-EE4E-4D14-B545-693B393B6C0C}" destId="{391D9908-1C0B-4668-A8C3-C2A0AA120D56}" srcOrd="1" destOrd="0" parTransId="{54A851C1-C8EB-4E59-B05F-15C0E0995C1B}" sibTransId="{CD3C8996-E59C-4B54-B0FB-BC6B107B7A73}"/>
    <dgm:cxn modelId="{ED752386-F952-9B4C-A3CB-7DF0F9644936}" type="presOf" srcId="{3BFF3998-E3E0-462A-8A61-F7D290FBD796}" destId="{597E7E71-7148-F14F-A0DB-12CB2CCF11AC}" srcOrd="0" destOrd="0" presId="urn:microsoft.com/office/officeart/2008/layout/LinedList"/>
    <dgm:cxn modelId="{B59724B1-6F4F-4000-ADB0-58F013D189BF}" srcId="{4FFADD30-A010-454E-9E27-726C08C26811}" destId="{013DDEA0-EE4E-4D14-B545-693B393B6C0C}" srcOrd="1" destOrd="0" parTransId="{7FEBBBBC-387A-4861-85E3-55CC9361D319}" sibTransId="{873A343B-8491-400A-B0EF-E15C62FBD9B2}"/>
    <dgm:cxn modelId="{59FDF1B6-5211-8F49-80F7-0F2ECF6420F3}" type="presOf" srcId="{AA9EC354-7FE5-4C89-A116-502EC99C83EE}" destId="{FB28EB17-B81E-8C4A-AF75-033824078829}" srcOrd="0" destOrd="0" presId="urn:microsoft.com/office/officeart/2008/layout/LinedList"/>
    <dgm:cxn modelId="{DA3191C4-E0F7-AB41-B939-432DD5680D5C}" type="presOf" srcId="{4FFADD30-A010-454E-9E27-726C08C26811}" destId="{BA1A9318-BC87-CD46-8790-7A5843985ACE}" srcOrd="0" destOrd="0" presId="urn:microsoft.com/office/officeart/2008/layout/LinedList"/>
    <dgm:cxn modelId="{943A4CD0-A779-CC47-B35C-A7C86DC09D12}" type="presOf" srcId="{D469C146-632C-407B-A5D4-100B9F730FAC}" destId="{9B740B3B-8D70-2A43-9E73-E5DDD6823234}" srcOrd="0" destOrd="0" presId="urn:microsoft.com/office/officeart/2008/layout/LinedList"/>
    <dgm:cxn modelId="{DA099A1E-E899-C246-9063-30E6B268D224}" type="presParOf" srcId="{BA1A9318-BC87-CD46-8790-7A5843985ACE}" destId="{EA139CB7-2911-BB40-B06F-5F83286D8E12}" srcOrd="0" destOrd="0" presId="urn:microsoft.com/office/officeart/2008/layout/LinedList"/>
    <dgm:cxn modelId="{DB2D6FAE-1865-C64B-98D0-080521DC995D}" type="presParOf" srcId="{BA1A9318-BC87-CD46-8790-7A5843985ACE}" destId="{837291AE-EE7F-424F-A7A8-D26C878A778B}" srcOrd="1" destOrd="0" presId="urn:microsoft.com/office/officeart/2008/layout/LinedList"/>
    <dgm:cxn modelId="{0EB8F96E-7426-F248-AC7F-6D6469D07F4F}" type="presParOf" srcId="{837291AE-EE7F-424F-A7A8-D26C878A778B}" destId="{597E7E71-7148-F14F-A0DB-12CB2CCF11AC}" srcOrd="0" destOrd="0" presId="urn:microsoft.com/office/officeart/2008/layout/LinedList"/>
    <dgm:cxn modelId="{C721A8E8-9319-7444-9F9C-4C6EC6723855}" type="presParOf" srcId="{837291AE-EE7F-424F-A7A8-D26C878A778B}" destId="{8A045C89-1AE2-FD4F-906D-F5D6407BB9BF}" srcOrd="1" destOrd="0" presId="urn:microsoft.com/office/officeart/2008/layout/LinedList"/>
    <dgm:cxn modelId="{8F4F23F9-7B0E-8A46-8253-014D516B455F}" type="presParOf" srcId="{8A045C89-1AE2-FD4F-906D-F5D6407BB9BF}" destId="{2098059B-4B7D-E84B-A3DA-4466596787B9}" srcOrd="0" destOrd="0" presId="urn:microsoft.com/office/officeart/2008/layout/LinedList"/>
    <dgm:cxn modelId="{6B4A8B61-A08C-E34B-BE5F-4AAE0552F180}" type="presParOf" srcId="{8A045C89-1AE2-FD4F-906D-F5D6407BB9BF}" destId="{B1C541AA-160A-EF4A-99FC-7C037EA06AA2}" srcOrd="1" destOrd="0" presId="urn:microsoft.com/office/officeart/2008/layout/LinedList"/>
    <dgm:cxn modelId="{C9469E58-C9E4-D048-873F-F2494D0DB4F1}" type="presParOf" srcId="{B1C541AA-160A-EF4A-99FC-7C037EA06AA2}" destId="{07DDF446-CE59-6645-8CDC-813780E9477E}" srcOrd="0" destOrd="0" presId="urn:microsoft.com/office/officeart/2008/layout/LinedList"/>
    <dgm:cxn modelId="{56093DAF-85D7-004E-8720-AF19BE9D6905}" type="presParOf" srcId="{B1C541AA-160A-EF4A-99FC-7C037EA06AA2}" destId="{558917CC-774F-5F43-95C8-E44CD2C72476}" srcOrd="1" destOrd="0" presId="urn:microsoft.com/office/officeart/2008/layout/LinedList"/>
    <dgm:cxn modelId="{67EB35D4-5E34-BB40-A1E1-6908C8E90FD5}" type="presParOf" srcId="{B1C541AA-160A-EF4A-99FC-7C037EA06AA2}" destId="{A97DC3DF-71E3-3D4B-9BA4-B645D7E222E4}" srcOrd="2" destOrd="0" presId="urn:microsoft.com/office/officeart/2008/layout/LinedList"/>
    <dgm:cxn modelId="{2B06035A-70BF-5848-BFDE-C29B80DE77F4}" type="presParOf" srcId="{8A045C89-1AE2-FD4F-906D-F5D6407BB9BF}" destId="{41ABC6AA-64A9-DD46-96C0-250B4F257813}" srcOrd="2" destOrd="0" presId="urn:microsoft.com/office/officeart/2008/layout/LinedList"/>
    <dgm:cxn modelId="{ECC7682C-0B9E-734C-8B11-D576DE6032CC}" type="presParOf" srcId="{8A045C89-1AE2-FD4F-906D-F5D6407BB9BF}" destId="{97CD3583-81C1-4946-8515-896E705D325C}" srcOrd="3" destOrd="0" presId="urn:microsoft.com/office/officeart/2008/layout/LinedList"/>
    <dgm:cxn modelId="{6936A437-7FCC-CF4A-8E96-85489DA593B9}" type="presParOf" srcId="{8A045C89-1AE2-FD4F-906D-F5D6407BB9BF}" destId="{82892402-16E2-3146-A6AF-4E5CBDD5C726}" srcOrd="4" destOrd="0" presId="urn:microsoft.com/office/officeart/2008/layout/LinedList"/>
    <dgm:cxn modelId="{FE3EF73E-DE74-F842-9A90-618C1E6877E3}" type="presParOf" srcId="{82892402-16E2-3146-A6AF-4E5CBDD5C726}" destId="{F69031FC-C421-814B-BA11-DCDDB5AB8921}" srcOrd="0" destOrd="0" presId="urn:microsoft.com/office/officeart/2008/layout/LinedList"/>
    <dgm:cxn modelId="{AD0B73B1-26B6-974E-A680-48BDA56DA23D}" type="presParOf" srcId="{82892402-16E2-3146-A6AF-4E5CBDD5C726}" destId="{9B740B3B-8D70-2A43-9E73-E5DDD6823234}" srcOrd="1" destOrd="0" presId="urn:microsoft.com/office/officeart/2008/layout/LinedList"/>
    <dgm:cxn modelId="{628293A4-D136-D646-8C42-002EE4C58514}" type="presParOf" srcId="{82892402-16E2-3146-A6AF-4E5CBDD5C726}" destId="{8E193C03-409A-E246-AA95-637F2C8D83C1}" srcOrd="2" destOrd="0" presId="urn:microsoft.com/office/officeart/2008/layout/LinedList"/>
    <dgm:cxn modelId="{875A7F1B-20A5-0F4B-B697-53286E781F38}" type="presParOf" srcId="{8A045C89-1AE2-FD4F-906D-F5D6407BB9BF}" destId="{6708D7C2-F363-9F43-80F7-2D8F4BEA9B8F}" srcOrd="5" destOrd="0" presId="urn:microsoft.com/office/officeart/2008/layout/LinedList"/>
    <dgm:cxn modelId="{16AA53A2-DFA8-4041-8385-D9B0373CC66A}" type="presParOf" srcId="{8A045C89-1AE2-FD4F-906D-F5D6407BB9BF}" destId="{8803AF8C-F7FB-D64D-A419-A2A9DD00D7E3}" srcOrd="6" destOrd="0" presId="urn:microsoft.com/office/officeart/2008/layout/LinedList"/>
    <dgm:cxn modelId="{EDE8EE84-490A-B448-99C4-918CB91D4656}" type="presParOf" srcId="{BA1A9318-BC87-CD46-8790-7A5843985ACE}" destId="{C420EAF4-F23A-6E47-925C-E47B674DC9CB}" srcOrd="2" destOrd="0" presId="urn:microsoft.com/office/officeart/2008/layout/LinedList"/>
    <dgm:cxn modelId="{ADF40512-936C-7145-8917-2CF97004A844}" type="presParOf" srcId="{BA1A9318-BC87-CD46-8790-7A5843985ACE}" destId="{9549F337-9B96-A447-83A7-8962AD611E4A}" srcOrd="3" destOrd="0" presId="urn:microsoft.com/office/officeart/2008/layout/LinedList"/>
    <dgm:cxn modelId="{1284E700-F77C-2448-A3CE-548994A76775}" type="presParOf" srcId="{9549F337-9B96-A447-83A7-8962AD611E4A}" destId="{9457226E-1801-B943-948C-FE2430971BF9}" srcOrd="0" destOrd="0" presId="urn:microsoft.com/office/officeart/2008/layout/LinedList"/>
    <dgm:cxn modelId="{553E087E-4107-834F-94E8-01A6596B4230}" type="presParOf" srcId="{9549F337-9B96-A447-83A7-8962AD611E4A}" destId="{6F240A53-962A-044E-8A4E-7E07B86C20BF}" srcOrd="1" destOrd="0" presId="urn:microsoft.com/office/officeart/2008/layout/LinedList"/>
    <dgm:cxn modelId="{EC87713A-AA29-AA46-8021-368B69C2B369}" type="presParOf" srcId="{6F240A53-962A-044E-8A4E-7E07B86C20BF}" destId="{9CA88AC1-B0B4-374C-A7FC-E0991821E081}" srcOrd="0" destOrd="0" presId="urn:microsoft.com/office/officeart/2008/layout/LinedList"/>
    <dgm:cxn modelId="{5067939A-FC08-0C4E-A897-B8B49841E4B3}" type="presParOf" srcId="{6F240A53-962A-044E-8A4E-7E07B86C20BF}" destId="{56C898F5-05D8-5F4A-ACBA-97C33072879A}" srcOrd="1" destOrd="0" presId="urn:microsoft.com/office/officeart/2008/layout/LinedList"/>
    <dgm:cxn modelId="{6A750189-60D3-574C-9E39-FB98BB0D2B6E}" type="presParOf" srcId="{56C898F5-05D8-5F4A-ACBA-97C33072879A}" destId="{DA6F1C59-AAF7-824F-B4FE-C948492162F9}" srcOrd="0" destOrd="0" presId="urn:microsoft.com/office/officeart/2008/layout/LinedList"/>
    <dgm:cxn modelId="{98AEEE61-24FF-7B46-874E-743DDF1D36AD}" type="presParOf" srcId="{56C898F5-05D8-5F4A-ACBA-97C33072879A}" destId="{FB28EB17-B81E-8C4A-AF75-033824078829}" srcOrd="1" destOrd="0" presId="urn:microsoft.com/office/officeart/2008/layout/LinedList"/>
    <dgm:cxn modelId="{146DC866-F37C-7946-B7C1-57DF547F10DD}" type="presParOf" srcId="{56C898F5-05D8-5F4A-ACBA-97C33072879A}" destId="{9982F34D-6CD6-2A4A-A534-0987EF5B9FD0}" srcOrd="2" destOrd="0" presId="urn:microsoft.com/office/officeart/2008/layout/LinedList"/>
    <dgm:cxn modelId="{C964FBC7-1754-2D4F-B5D7-8E2484C58EAF}" type="presParOf" srcId="{6F240A53-962A-044E-8A4E-7E07B86C20BF}" destId="{04E96D03-3D7F-634E-B0E1-D30AAA6B8A6B}" srcOrd="2" destOrd="0" presId="urn:microsoft.com/office/officeart/2008/layout/LinedList"/>
    <dgm:cxn modelId="{AE7127D7-0CF7-7B4E-919B-625CC8794AE4}" type="presParOf" srcId="{6F240A53-962A-044E-8A4E-7E07B86C20BF}" destId="{DF45AC71-7BBF-CC4C-A8FD-6AA5FEA73D09}" srcOrd="3" destOrd="0" presId="urn:microsoft.com/office/officeart/2008/layout/LinedList"/>
    <dgm:cxn modelId="{A3EA8101-3526-EE41-936A-8C7829C1E748}" type="presParOf" srcId="{6F240A53-962A-044E-8A4E-7E07B86C20BF}" destId="{41B3175C-8D84-6947-8F7A-87B5187CAFAE}" srcOrd="4" destOrd="0" presId="urn:microsoft.com/office/officeart/2008/layout/LinedList"/>
    <dgm:cxn modelId="{0BED4944-0946-DC4E-AB4A-7BF4B548309A}" type="presParOf" srcId="{41B3175C-8D84-6947-8F7A-87B5187CAFAE}" destId="{079CF27B-645A-0849-9811-4C154AE0C044}" srcOrd="0" destOrd="0" presId="urn:microsoft.com/office/officeart/2008/layout/LinedList"/>
    <dgm:cxn modelId="{FFF86278-565B-C54A-9A68-D55A4D45CA82}" type="presParOf" srcId="{41B3175C-8D84-6947-8F7A-87B5187CAFAE}" destId="{4BAF5CFF-AFA9-C345-A305-6B85551EF58C}" srcOrd="1" destOrd="0" presId="urn:microsoft.com/office/officeart/2008/layout/LinedList"/>
    <dgm:cxn modelId="{DCBBEE6C-C11F-A645-82D2-F6DB5E6490FB}" type="presParOf" srcId="{41B3175C-8D84-6947-8F7A-87B5187CAFAE}" destId="{D882A3CB-13CA-444D-8F40-B79587B84FE1}" srcOrd="2" destOrd="0" presId="urn:microsoft.com/office/officeart/2008/layout/LinedList"/>
    <dgm:cxn modelId="{6AA90FE2-588D-8848-B615-70F7BB2F8A44}" type="presParOf" srcId="{6F240A53-962A-044E-8A4E-7E07B86C20BF}" destId="{E218F5B4-CE56-C649-AE8F-FECDC08DF10C}" srcOrd="5" destOrd="0" presId="urn:microsoft.com/office/officeart/2008/layout/LinedList"/>
    <dgm:cxn modelId="{75E5DBE7-8E5C-0B48-9B61-3D8C2C5E4B06}" type="presParOf" srcId="{6F240A53-962A-044E-8A4E-7E07B86C20BF}" destId="{DFD2477D-5D23-7148-90F2-FB3F7AD6B26E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BA114C-CB1B-4E1E-A373-B0F37520FA77}" type="doc">
      <dgm:prSet loTypeId="urn:microsoft.com/office/officeart/2005/8/layout/matrix2" loCatId="matrix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80B587E-4E52-4C9F-9120-BFEA4E5057FE}">
      <dgm:prSet/>
      <dgm:spPr/>
      <dgm:t>
        <a:bodyPr/>
        <a:lstStyle/>
        <a:p>
          <a:r>
            <a:rPr lang="en-US"/>
            <a:t>Layoffs peaked in 2022-23 but salaries in Data roles kept growing.</a:t>
          </a:r>
        </a:p>
      </dgm:t>
    </dgm:pt>
    <dgm:pt modelId="{CCFEBC19-F050-4E91-AA12-33A57E32253D}" type="parTrans" cxnId="{5B1BFC1E-262E-4F25-B248-1D1D8D202B83}">
      <dgm:prSet/>
      <dgm:spPr/>
      <dgm:t>
        <a:bodyPr/>
        <a:lstStyle/>
        <a:p>
          <a:endParaRPr lang="en-US"/>
        </a:p>
      </dgm:t>
    </dgm:pt>
    <dgm:pt modelId="{CFA38C4F-C785-4E2F-B27D-E3C0E9936B29}" type="sibTrans" cxnId="{5B1BFC1E-262E-4F25-B248-1D1D8D202B83}">
      <dgm:prSet/>
      <dgm:spPr/>
      <dgm:t>
        <a:bodyPr/>
        <a:lstStyle/>
        <a:p>
          <a:endParaRPr lang="en-US"/>
        </a:p>
      </dgm:t>
    </dgm:pt>
    <dgm:pt modelId="{EB78D65E-7B4E-4482-9FBB-A07A6AB43C28}">
      <dgm:prSet/>
      <dgm:spPr/>
      <dgm:t>
        <a:bodyPr/>
        <a:lstStyle/>
        <a:p>
          <a:r>
            <a:rPr lang="en-US"/>
            <a:t>US market drives both layoffs and highest compensation.</a:t>
          </a:r>
        </a:p>
      </dgm:t>
    </dgm:pt>
    <dgm:pt modelId="{AC2C6E18-45FB-414B-ADB0-16C0CFB8F469}" type="parTrans" cxnId="{C184361C-16AB-4BE8-A1F5-2D1895B0B9EF}">
      <dgm:prSet/>
      <dgm:spPr/>
      <dgm:t>
        <a:bodyPr/>
        <a:lstStyle/>
        <a:p>
          <a:endParaRPr lang="en-US"/>
        </a:p>
      </dgm:t>
    </dgm:pt>
    <dgm:pt modelId="{A80335D2-A16E-4160-959D-6AEF8C4DD64B}" type="sibTrans" cxnId="{C184361C-16AB-4BE8-A1F5-2D1895B0B9EF}">
      <dgm:prSet/>
      <dgm:spPr/>
      <dgm:t>
        <a:bodyPr/>
        <a:lstStyle/>
        <a:p>
          <a:endParaRPr lang="en-US"/>
        </a:p>
      </dgm:t>
    </dgm:pt>
    <dgm:pt modelId="{D0A72F0E-828E-4FDA-BBAE-F54EDD3A28CF}">
      <dgm:prSet/>
      <dgm:spPr/>
      <dgm:t>
        <a:bodyPr/>
        <a:lstStyle/>
        <a:p>
          <a:r>
            <a:rPr lang="en-US"/>
            <a:t>Experience level is the strongest predictor of salary.</a:t>
          </a:r>
        </a:p>
      </dgm:t>
    </dgm:pt>
    <dgm:pt modelId="{4E42D5AD-1686-4EBD-B0D5-FE3202A83CB2}" type="parTrans" cxnId="{0497A123-75CA-4E93-96E6-F8AC0867A613}">
      <dgm:prSet/>
      <dgm:spPr/>
      <dgm:t>
        <a:bodyPr/>
        <a:lstStyle/>
        <a:p>
          <a:endParaRPr lang="en-US"/>
        </a:p>
      </dgm:t>
    </dgm:pt>
    <dgm:pt modelId="{3271D154-63B3-4D02-BF6E-312484CFE7B2}" type="sibTrans" cxnId="{0497A123-75CA-4E93-96E6-F8AC0867A613}">
      <dgm:prSet/>
      <dgm:spPr/>
      <dgm:t>
        <a:bodyPr/>
        <a:lstStyle/>
        <a:p>
          <a:endParaRPr lang="en-US"/>
        </a:p>
      </dgm:t>
    </dgm:pt>
    <dgm:pt modelId="{8819A740-7F94-473C-8900-1E22EB75296A}">
      <dgm:prSet/>
      <dgm:spPr/>
      <dgm:t>
        <a:bodyPr/>
        <a:lstStyle/>
        <a:p>
          <a:r>
            <a:rPr lang="en-US"/>
            <a:t>Hybrid/In-person work is recovering share from fully remote.</a:t>
          </a:r>
        </a:p>
      </dgm:t>
    </dgm:pt>
    <dgm:pt modelId="{CA41F870-FC51-4308-BEB5-6FD8E6134529}" type="parTrans" cxnId="{6EAE0ACD-5FB7-4DA2-BFEF-6BA2B5A96A7D}">
      <dgm:prSet/>
      <dgm:spPr/>
      <dgm:t>
        <a:bodyPr/>
        <a:lstStyle/>
        <a:p>
          <a:endParaRPr lang="en-US"/>
        </a:p>
      </dgm:t>
    </dgm:pt>
    <dgm:pt modelId="{3B44C692-4AB4-4A6C-B3CD-4B51250C3C78}" type="sibTrans" cxnId="{6EAE0ACD-5FB7-4DA2-BFEF-6BA2B5A96A7D}">
      <dgm:prSet/>
      <dgm:spPr/>
      <dgm:t>
        <a:bodyPr/>
        <a:lstStyle/>
        <a:p>
          <a:endParaRPr lang="en-US"/>
        </a:p>
      </dgm:t>
    </dgm:pt>
    <dgm:pt modelId="{BEBCA062-CBFE-7D47-A03F-BC687DB4047C}" type="pres">
      <dgm:prSet presAssocID="{4BBA114C-CB1B-4E1E-A373-B0F37520FA77}" presName="matrix" presStyleCnt="0">
        <dgm:presLayoutVars>
          <dgm:chMax val="1"/>
          <dgm:dir/>
          <dgm:resizeHandles val="exact"/>
        </dgm:presLayoutVars>
      </dgm:prSet>
      <dgm:spPr/>
    </dgm:pt>
    <dgm:pt modelId="{BF31AD2D-C073-7047-B5B0-508311F04A52}" type="pres">
      <dgm:prSet presAssocID="{4BBA114C-CB1B-4E1E-A373-B0F37520FA77}" presName="axisShape" presStyleLbl="bgShp" presStyleIdx="0" presStyleCnt="1"/>
      <dgm:spPr/>
    </dgm:pt>
    <dgm:pt modelId="{03BA1A36-72D2-D74F-BFE6-0653628F4CE9}" type="pres">
      <dgm:prSet presAssocID="{4BBA114C-CB1B-4E1E-A373-B0F37520FA77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69BF2CC-B38F-B64C-A93B-D8B04817EA49}" type="pres">
      <dgm:prSet presAssocID="{4BBA114C-CB1B-4E1E-A373-B0F37520FA77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7DA714D-549A-D04D-933F-04AB6A9A76EA}" type="pres">
      <dgm:prSet presAssocID="{4BBA114C-CB1B-4E1E-A373-B0F37520FA77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8E10828-7B18-2949-B030-2BD24CE9777A}" type="pres">
      <dgm:prSet presAssocID="{4BBA114C-CB1B-4E1E-A373-B0F37520FA77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184361C-16AB-4BE8-A1F5-2D1895B0B9EF}" srcId="{4BBA114C-CB1B-4E1E-A373-B0F37520FA77}" destId="{EB78D65E-7B4E-4482-9FBB-A07A6AB43C28}" srcOrd="1" destOrd="0" parTransId="{AC2C6E18-45FB-414B-ADB0-16C0CFB8F469}" sibTransId="{A80335D2-A16E-4160-959D-6AEF8C4DD64B}"/>
    <dgm:cxn modelId="{5B1BFC1E-262E-4F25-B248-1D1D8D202B83}" srcId="{4BBA114C-CB1B-4E1E-A373-B0F37520FA77}" destId="{780B587E-4E52-4C9F-9120-BFEA4E5057FE}" srcOrd="0" destOrd="0" parTransId="{CCFEBC19-F050-4E91-AA12-33A57E32253D}" sibTransId="{CFA38C4F-C785-4E2F-B27D-E3C0E9936B29}"/>
    <dgm:cxn modelId="{0497A123-75CA-4E93-96E6-F8AC0867A613}" srcId="{4BBA114C-CB1B-4E1E-A373-B0F37520FA77}" destId="{D0A72F0E-828E-4FDA-BBAE-F54EDD3A28CF}" srcOrd="2" destOrd="0" parTransId="{4E42D5AD-1686-4EBD-B0D5-FE3202A83CB2}" sibTransId="{3271D154-63B3-4D02-BF6E-312484CFE7B2}"/>
    <dgm:cxn modelId="{EC6FFE26-AF66-7149-AB49-C01C3E88D08E}" type="presOf" srcId="{EB78D65E-7B4E-4482-9FBB-A07A6AB43C28}" destId="{769BF2CC-B38F-B64C-A93B-D8B04817EA49}" srcOrd="0" destOrd="0" presId="urn:microsoft.com/office/officeart/2005/8/layout/matrix2"/>
    <dgm:cxn modelId="{D72FE83F-833F-8747-95E7-B8D545DFA377}" type="presOf" srcId="{8819A740-7F94-473C-8900-1E22EB75296A}" destId="{48E10828-7B18-2949-B030-2BD24CE9777A}" srcOrd="0" destOrd="0" presId="urn:microsoft.com/office/officeart/2005/8/layout/matrix2"/>
    <dgm:cxn modelId="{6EAE0ACD-5FB7-4DA2-BFEF-6BA2B5A96A7D}" srcId="{4BBA114C-CB1B-4E1E-A373-B0F37520FA77}" destId="{8819A740-7F94-473C-8900-1E22EB75296A}" srcOrd="3" destOrd="0" parTransId="{CA41F870-FC51-4308-BEB5-6FD8E6134529}" sibTransId="{3B44C692-4AB4-4A6C-B3CD-4B51250C3C78}"/>
    <dgm:cxn modelId="{74DBB9D8-AB61-8140-9932-4C461EDD5881}" type="presOf" srcId="{4BBA114C-CB1B-4E1E-A373-B0F37520FA77}" destId="{BEBCA062-CBFE-7D47-A03F-BC687DB4047C}" srcOrd="0" destOrd="0" presId="urn:microsoft.com/office/officeart/2005/8/layout/matrix2"/>
    <dgm:cxn modelId="{626F13EC-4714-0141-9AF5-29B2B04EB850}" type="presOf" srcId="{D0A72F0E-828E-4FDA-BBAE-F54EDD3A28CF}" destId="{67DA714D-549A-D04D-933F-04AB6A9A76EA}" srcOrd="0" destOrd="0" presId="urn:microsoft.com/office/officeart/2005/8/layout/matrix2"/>
    <dgm:cxn modelId="{82E8B0EC-27DC-BF45-B3EA-8DA0D3F925FB}" type="presOf" srcId="{780B587E-4E52-4C9F-9120-BFEA4E5057FE}" destId="{03BA1A36-72D2-D74F-BFE6-0653628F4CE9}" srcOrd="0" destOrd="0" presId="urn:microsoft.com/office/officeart/2005/8/layout/matrix2"/>
    <dgm:cxn modelId="{6ADEC6DC-B444-3D43-9278-24F1FD534ABD}" type="presParOf" srcId="{BEBCA062-CBFE-7D47-A03F-BC687DB4047C}" destId="{BF31AD2D-C073-7047-B5B0-508311F04A52}" srcOrd="0" destOrd="0" presId="urn:microsoft.com/office/officeart/2005/8/layout/matrix2"/>
    <dgm:cxn modelId="{AA8E76BF-112A-694B-93BA-00A5483F2713}" type="presParOf" srcId="{BEBCA062-CBFE-7D47-A03F-BC687DB4047C}" destId="{03BA1A36-72D2-D74F-BFE6-0653628F4CE9}" srcOrd="1" destOrd="0" presId="urn:microsoft.com/office/officeart/2005/8/layout/matrix2"/>
    <dgm:cxn modelId="{EADA1219-29E4-C141-B3AA-78819134AA24}" type="presParOf" srcId="{BEBCA062-CBFE-7D47-A03F-BC687DB4047C}" destId="{769BF2CC-B38F-B64C-A93B-D8B04817EA49}" srcOrd="2" destOrd="0" presId="urn:microsoft.com/office/officeart/2005/8/layout/matrix2"/>
    <dgm:cxn modelId="{692EF634-802E-724A-9BC9-C98FCBFA31B4}" type="presParOf" srcId="{BEBCA062-CBFE-7D47-A03F-BC687DB4047C}" destId="{67DA714D-549A-D04D-933F-04AB6A9A76EA}" srcOrd="3" destOrd="0" presId="urn:microsoft.com/office/officeart/2005/8/layout/matrix2"/>
    <dgm:cxn modelId="{AFB1C53A-22EA-374B-AE64-4F52850BED33}" type="presParOf" srcId="{BEBCA062-CBFE-7D47-A03F-BC687DB4047C}" destId="{48E10828-7B18-2949-B030-2BD24CE9777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79D4BD-2235-421E-A608-02FDBC684FA0}">
      <dsp:nvSpPr>
        <dsp:cNvPr id="0" name=""/>
        <dsp:cNvSpPr/>
      </dsp:nvSpPr>
      <dsp:spPr>
        <a:xfrm>
          <a:off x="350893" y="722595"/>
          <a:ext cx="1094783" cy="109478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E48E26-194F-4F32-A990-14DE532A18EC}">
      <dsp:nvSpPr>
        <dsp:cNvPr id="0" name=""/>
        <dsp:cNvSpPr/>
      </dsp:nvSpPr>
      <dsp:spPr>
        <a:xfrm>
          <a:off x="584207" y="955910"/>
          <a:ext cx="628154" cy="6281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5A9A8-F862-460D-A892-E69DBB6F98DD}">
      <dsp:nvSpPr>
        <dsp:cNvPr id="0" name=""/>
        <dsp:cNvSpPr/>
      </dsp:nvSpPr>
      <dsp:spPr>
        <a:xfrm>
          <a:off x="921" y="2158376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cap="none" dirty="0"/>
            <a:t>Post-covid tech boom led to over-hiring, followed by corrections.</a:t>
          </a:r>
        </a:p>
      </dsp:txBody>
      <dsp:txXfrm>
        <a:off x="921" y="2158376"/>
        <a:ext cx="1794726" cy="717890"/>
      </dsp:txXfrm>
    </dsp:sp>
    <dsp:sp modelId="{4F87ED0A-831B-46A1-AA96-11E49C8C01E3}">
      <dsp:nvSpPr>
        <dsp:cNvPr id="0" name=""/>
        <dsp:cNvSpPr/>
      </dsp:nvSpPr>
      <dsp:spPr>
        <a:xfrm>
          <a:off x="2459697" y="722595"/>
          <a:ext cx="1094783" cy="1094783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8AE2C-A209-4407-A0D0-EAE0A9C8AB43}">
      <dsp:nvSpPr>
        <dsp:cNvPr id="0" name=""/>
        <dsp:cNvSpPr/>
      </dsp:nvSpPr>
      <dsp:spPr>
        <a:xfrm>
          <a:off x="2693011" y="955910"/>
          <a:ext cx="628154" cy="6281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C26D3-8817-41C6-8443-A782BF94C88A}">
      <dsp:nvSpPr>
        <dsp:cNvPr id="0" name=""/>
        <dsp:cNvSpPr/>
      </dsp:nvSpPr>
      <dsp:spPr>
        <a:xfrm>
          <a:off x="2109725" y="2158376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cap="none" dirty="0"/>
            <a:t>Analyze resilience of salaries despite market volatility.</a:t>
          </a:r>
        </a:p>
      </dsp:txBody>
      <dsp:txXfrm>
        <a:off x="2109725" y="2158376"/>
        <a:ext cx="1794726" cy="717890"/>
      </dsp:txXfrm>
    </dsp:sp>
    <dsp:sp modelId="{73126281-B972-4FC2-A0F7-351773EA5BEB}">
      <dsp:nvSpPr>
        <dsp:cNvPr id="0" name=""/>
        <dsp:cNvSpPr/>
      </dsp:nvSpPr>
      <dsp:spPr>
        <a:xfrm>
          <a:off x="4568500" y="722595"/>
          <a:ext cx="1094783" cy="1094783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A08D3-3902-4515-8783-384C30108BEF}">
      <dsp:nvSpPr>
        <dsp:cNvPr id="0" name=""/>
        <dsp:cNvSpPr/>
      </dsp:nvSpPr>
      <dsp:spPr>
        <a:xfrm>
          <a:off x="4801815" y="955910"/>
          <a:ext cx="628154" cy="6281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F56DD1-05AC-4113-B49A-6CEF5FBB8107}">
      <dsp:nvSpPr>
        <dsp:cNvPr id="0" name=""/>
        <dsp:cNvSpPr/>
      </dsp:nvSpPr>
      <dsp:spPr>
        <a:xfrm>
          <a:off x="4218529" y="2158376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cap="none" dirty="0"/>
            <a:t>Essential for career strategy and understanding global disparities.</a:t>
          </a:r>
        </a:p>
      </dsp:txBody>
      <dsp:txXfrm>
        <a:off x="4218529" y="2158376"/>
        <a:ext cx="1794726" cy="717890"/>
      </dsp:txXfrm>
    </dsp:sp>
    <dsp:sp modelId="{1DE6670E-57AA-47B8-8AE7-0AD6273F231A}">
      <dsp:nvSpPr>
        <dsp:cNvPr id="0" name=""/>
        <dsp:cNvSpPr/>
      </dsp:nvSpPr>
      <dsp:spPr>
        <a:xfrm>
          <a:off x="6677304" y="722595"/>
          <a:ext cx="1094783" cy="1094783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0ED99-E70C-4C17-AA1B-303D8BB3D77C}">
      <dsp:nvSpPr>
        <dsp:cNvPr id="0" name=""/>
        <dsp:cNvSpPr/>
      </dsp:nvSpPr>
      <dsp:spPr>
        <a:xfrm>
          <a:off x="6910618" y="955910"/>
          <a:ext cx="628154" cy="6281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5B4D3-1A5F-4452-88EF-B669CF6CA85A}">
      <dsp:nvSpPr>
        <dsp:cNvPr id="0" name=""/>
        <dsp:cNvSpPr/>
      </dsp:nvSpPr>
      <dsp:spPr>
        <a:xfrm>
          <a:off x="6327332" y="2158376"/>
          <a:ext cx="1794726" cy="717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cap="none" dirty="0"/>
            <a:t>Visualization reveals hidden structures in economic data.</a:t>
          </a:r>
        </a:p>
      </dsp:txBody>
      <dsp:txXfrm>
        <a:off x="6327332" y="2158376"/>
        <a:ext cx="1794726" cy="7178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139CB7-2911-BB40-B06F-5F83286D8E12}">
      <dsp:nvSpPr>
        <dsp:cNvPr id="0" name=""/>
        <dsp:cNvSpPr/>
      </dsp:nvSpPr>
      <dsp:spPr>
        <a:xfrm>
          <a:off x="0" y="0"/>
          <a:ext cx="802362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E7E71-7148-F14F-A0DB-12CB2CCF11AC}">
      <dsp:nvSpPr>
        <dsp:cNvPr id="0" name=""/>
        <dsp:cNvSpPr/>
      </dsp:nvSpPr>
      <dsp:spPr>
        <a:xfrm>
          <a:off x="0" y="0"/>
          <a:ext cx="1604724" cy="1453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Dataset 1: Tech Layoffs (Kaggle)</a:t>
          </a:r>
        </a:p>
      </dsp:txBody>
      <dsp:txXfrm>
        <a:off x="0" y="0"/>
        <a:ext cx="1604724" cy="1453776"/>
      </dsp:txXfrm>
    </dsp:sp>
    <dsp:sp modelId="{558917CC-774F-5F43-95C8-E44CD2C72476}">
      <dsp:nvSpPr>
        <dsp:cNvPr id="0" name=""/>
        <dsp:cNvSpPr/>
      </dsp:nvSpPr>
      <dsp:spPr>
        <a:xfrm>
          <a:off x="1725078" y="33788"/>
          <a:ext cx="6298543" cy="675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Timeline: 2020 - 2025</a:t>
          </a:r>
        </a:p>
      </dsp:txBody>
      <dsp:txXfrm>
        <a:off x="1725078" y="33788"/>
        <a:ext cx="6298543" cy="675778"/>
      </dsp:txXfrm>
    </dsp:sp>
    <dsp:sp modelId="{41ABC6AA-64A9-DD46-96C0-250B4F257813}">
      <dsp:nvSpPr>
        <dsp:cNvPr id="0" name=""/>
        <dsp:cNvSpPr/>
      </dsp:nvSpPr>
      <dsp:spPr>
        <a:xfrm>
          <a:off x="1604724" y="709567"/>
          <a:ext cx="641889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740B3B-8D70-2A43-9E73-E5DDD6823234}">
      <dsp:nvSpPr>
        <dsp:cNvPr id="0" name=""/>
        <dsp:cNvSpPr/>
      </dsp:nvSpPr>
      <dsp:spPr>
        <a:xfrm>
          <a:off x="1725078" y="743356"/>
          <a:ext cx="6298543" cy="675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Fields: Company, Industry, Count, Country</a:t>
          </a:r>
        </a:p>
      </dsp:txBody>
      <dsp:txXfrm>
        <a:off x="1725078" y="743356"/>
        <a:ext cx="6298543" cy="675778"/>
      </dsp:txXfrm>
    </dsp:sp>
    <dsp:sp modelId="{6708D7C2-F363-9F43-80F7-2D8F4BEA9B8F}">
      <dsp:nvSpPr>
        <dsp:cNvPr id="0" name=""/>
        <dsp:cNvSpPr/>
      </dsp:nvSpPr>
      <dsp:spPr>
        <a:xfrm>
          <a:off x="1604724" y="1419135"/>
          <a:ext cx="641889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0EAF4-F23A-6E47-925C-E47B674DC9CB}">
      <dsp:nvSpPr>
        <dsp:cNvPr id="0" name=""/>
        <dsp:cNvSpPr/>
      </dsp:nvSpPr>
      <dsp:spPr>
        <a:xfrm>
          <a:off x="0" y="2907552"/>
          <a:ext cx="802362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57226E-1801-B943-948C-FE2430971BF9}">
      <dsp:nvSpPr>
        <dsp:cNvPr id="0" name=""/>
        <dsp:cNvSpPr/>
      </dsp:nvSpPr>
      <dsp:spPr>
        <a:xfrm>
          <a:off x="0" y="1453776"/>
          <a:ext cx="1604724" cy="1453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Dataset 2: Data Jobs (Kaggle)</a:t>
          </a:r>
        </a:p>
      </dsp:txBody>
      <dsp:txXfrm>
        <a:off x="0" y="1453776"/>
        <a:ext cx="1604724" cy="1453776"/>
      </dsp:txXfrm>
    </dsp:sp>
    <dsp:sp modelId="{FB28EB17-B81E-8C4A-AF75-033824078829}">
      <dsp:nvSpPr>
        <dsp:cNvPr id="0" name=""/>
        <dsp:cNvSpPr/>
      </dsp:nvSpPr>
      <dsp:spPr>
        <a:xfrm>
          <a:off x="1725078" y="1487564"/>
          <a:ext cx="6298543" cy="675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Timeline: 2020 - 2023</a:t>
          </a:r>
        </a:p>
      </dsp:txBody>
      <dsp:txXfrm>
        <a:off x="1725078" y="1487564"/>
        <a:ext cx="6298543" cy="675778"/>
      </dsp:txXfrm>
    </dsp:sp>
    <dsp:sp modelId="{04E96D03-3D7F-634E-B0E1-D30AAA6B8A6B}">
      <dsp:nvSpPr>
        <dsp:cNvPr id="0" name=""/>
        <dsp:cNvSpPr/>
      </dsp:nvSpPr>
      <dsp:spPr>
        <a:xfrm>
          <a:off x="1604724" y="2163343"/>
          <a:ext cx="641889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F5CFF-AFA9-C345-A305-6B85551EF58C}">
      <dsp:nvSpPr>
        <dsp:cNvPr id="0" name=""/>
        <dsp:cNvSpPr/>
      </dsp:nvSpPr>
      <dsp:spPr>
        <a:xfrm>
          <a:off x="1725078" y="2197132"/>
          <a:ext cx="6298543" cy="675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Fields: Title, Salary, Experience, Work Setting</a:t>
          </a:r>
        </a:p>
      </dsp:txBody>
      <dsp:txXfrm>
        <a:off x="1725078" y="2197132"/>
        <a:ext cx="6298543" cy="675778"/>
      </dsp:txXfrm>
    </dsp:sp>
    <dsp:sp modelId="{E218F5B4-CE56-C649-AE8F-FECDC08DF10C}">
      <dsp:nvSpPr>
        <dsp:cNvPr id="0" name=""/>
        <dsp:cNvSpPr/>
      </dsp:nvSpPr>
      <dsp:spPr>
        <a:xfrm>
          <a:off x="1604724" y="2872911"/>
          <a:ext cx="641889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31AD2D-C073-7047-B5B0-508311F04A52}">
      <dsp:nvSpPr>
        <dsp:cNvPr id="0" name=""/>
        <dsp:cNvSpPr/>
      </dsp:nvSpPr>
      <dsp:spPr>
        <a:xfrm>
          <a:off x="2262059" y="0"/>
          <a:ext cx="3598863" cy="3598863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BA1A36-72D2-D74F-BFE6-0653628F4CE9}">
      <dsp:nvSpPr>
        <dsp:cNvPr id="0" name=""/>
        <dsp:cNvSpPr/>
      </dsp:nvSpPr>
      <dsp:spPr>
        <a:xfrm>
          <a:off x="2495985" y="233926"/>
          <a:ext cx="1439545" cy="14395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Layoffs peaked in 2022-23 but salaries in Data roles kept growing.</a:t>
          </a:r>
        </a:p>
      </dsp:txBody>
      <dsp:txXfrm>
        <a:off x="2566258" y="304199"/>
        <a:ext cx="1298999" cy="1298999"/>
      </dsp:txXfrm>
    </dsp:sp>
    <dsp:sp modelId="{769BF2CC-B38F-B64C-A93B-D8B04817EA49}">
      <dsp:nvSpPr>
        <dsp:cNvPr id="0" name=""/>
        <dsp:cNvSpPr/>
      </dsp:nvSpPr>
      <dsp:spPr>
        <a:xfrm>
          <a:off x="4187450" y="233926"/>
          <a:ext cx="1439545" cy="14395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 market drives both layoffs and highest compensation.</a:t>
          </a:r>
        </a:p>
      </dsp:txBody>
      <dsp:txXfrm>
        <a:off x="4257723" y="304199"/>
        <a:ext cx="1298999" cy="1298999"/>
      </dsp:txXfrm>
    </dsp:sp>
    <dsp:sp modelId="{67DA714D-549A-D04D-933F-04AB6A9A76EA}">
      <dsp:nvSpPr>
        <dsp:cNvPr id="0" name=""/>
        <dsp:cNvSpPr/>
      </dsp:nvSpPr>
      <dsp:spPr>
        <a:xfrm>
          <a:off x="2495985" y="1925391"/>
          <a:ext cx="1439545" cy="14395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Experience level is the strongest predictor of salary.</a:t>
          </a:r>
        </a:p>
      </dsp:txBody>
      <dsp:txXfrm>
        <a:off x="2566258" y="1995664"/>
        <a:ext cx="1298999" cy="1298999"/>
      </dsp:txXfrm>
    </dsp:sp>
    <dsp:sp modelId="{48E10828-7B18-2949-B030-2BD24CE9777A}">
      <dsp:nvSpPr>
        <dsp:cNvPr id="0" name=""/>
        <dsp:cNvSpPr/>
      </dsp:nvSpPr>
      <dsp:spPr>
        <a:xfrm>
          <a:off x="4187450" y="1925391"/>
          <a:ext cx="1439545" cy="14395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Hybrid/In-person work is recovering share from fully remote.</a:t>
          </a:r>
        </a:p>
      </dsp:txBody>
      <dsp:txXfrm>
        <a:off x="4257723" y="1995664"/>
        <a:ext cx="1298999" cy="1298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48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1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0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9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86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6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7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7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05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815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38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26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47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56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48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3.png"/><Relationship Id="rId9" Type="http://schemas.microsoft.com/office/2007/relationships/diagramDrawing" Target="../diagrams/drawing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shade val="100000"/>
                <a:hueMod val="100000"/>
                <a:satMod val="110000"/>
                <a:lumMod val="79000"/>
                <a:lumOff val="21000"/>
              </a:schemeClr>
            </a:gs>
            <a:gs pos="100000">
              <a:schemeClr val="bg2">
                <a:shade val="78000"/>
                <a:hueMod val="44000"/>
                <a:satMod val="200000"/>
                <a:lumMod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B1B45BD-D05B-47CB-97E5-994F293A1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7BDE151-4F7A-4E95-939F-18B2F607C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643467"/>
            <a:ext cx="6100359" cy="3603022"/>
          </a:xfrm>
        </p:spPr>
        <p:txBody>
          <a:bodyPr>
            <a:normAutofit/>
          </a:bodyPr>
          <a:lstStyle/>
          <a:p>
            <a:r>
              <a:rPr lang="en-US" dirty="0"/>
              <a:t>Visualizing Tech Workforce Dynamics (2020–2025)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3E1E67-68B8-49AF-8DBA-E7E08CD3F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68225"/>
            <a:ext cx="9141618" cy="2289774"/>
          </a:xfrm>
          <a:prstGeom prst="rect">
            <a:avLst/>
          </a:prstGeom>
          <a:solidFill>
            <a:srgbClr val="181717">
              <a:alpha val="89804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519953" y="4762275"/>
            <a:ext cx="7585511" cy="156110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Layoffs, Salaries &amp; Global Trends in Major companies</a:t>
            </a:r>
          </a:p>
          <a:p>
            <a:r>
              <a:rPr lang="en-US" dirty="0">
                <a:solidFill>
                  <a:srgbClr val="FFFFFF"/>
                </a:solidFill>
              </a:rPr>
              <a:t>Course: BSDS 6301: Data Visualization</a:t>
            </a:r>
          </a:p>
          <a:p>
            <a:r>
              <a:rPr lang="en-US" dirty="0">
                <a:solidFill>
                  <a:srgbClr val="FFFFFF"/>
                </a:solidFill>
              </a:rPr>
              <a:t>Presenter: Mansi Thakrar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6FDE7C-B860-44EE-B294-C8358F7A8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67940" y="4568225"/>
            <a:ext cx="2073678" cy="22897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8100D021-ED8E-4951-8376-73996A82C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6FE219C-22F7-4734-B3C1-28E70390C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F2EC4B6-5524-4806-8575-59DB6B8F8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D50BBC6-5944-49AE-A819-558AB05AB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2E428D-A109-43BE-8AC2-C83EF031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Why Study Tech Workforce Dynamics?</a:t>
            </a:r>
          </a:p>
        </p:txBody>
      </p:sp>
      <p:graphicFrame>
        <p:nvGraphicFramePr>
          <p:cNvPr id="34" name="TextBox 2">
            <a:extLst>
              <a:ext uri="{FF2B5EF4-FFF2-40B4-BE49-F238E27FC236}">
                <a16:creationId xmlns:a16="http://schemas.microsoft.com/office/drawing/2014/main" id="{D0A27A04-4B1D-DCFB-EAB8-73B6781621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4595695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100D021-ED8E-4951-8376-73996A82C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FE219C-22F7-4734-B3C1-28E70390C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2EC4B6-5524-4806-8575-59DB6B8F8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D50BBC6-5944-49AE-A819-558AB05AB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E428D-A109-43BE-8AC2-C83EF031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Datasets Overview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96B4E59D-A93B-43F9-FE6D-8E726CCC34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4556832"/>
              </p:ext>
            </p:extLst>
          </p:nvPr>
        </p:nvGraphicFramePr>
        <p:xfrm>
          <a:off x="510778" y="2336801"/>
          <a:ext cx="8023622" cy="2907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0E93D5FC-63A0-47A4-A8C7-365881F64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5C2F18C-671F-4ECE-96A3-EBAFC5796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9728584-DEE7-4174-9BB7-DAEBB71F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64C1E679-9F46-4A3D-8724-12767F0EB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DB7D69C-15F2-4834-A591-AF4B6F90B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050A4B3-C32C-4322-B92D-C077623C3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382" y="0"/>
            <a:ext cx="9144000" cy="6858001"/>
            <a:chOff x="-3176" y="0"/>
            <a:chExt cx="12192000" cy="6858001"/>
          </a:xfrm>
        </p:grpSpPr>
        <p:sp useBgFill="1">
          <p:nvSpPr>
            <p:cNvPr id="64" name="Rectangle 63">
              <a:extLst>
                <a:ext uri="{FF2B5EF4-FFF2-40B4-BE49-F238E27FC236}">
                  <a16:creationId xmlns:a16="http://schemas.microsoft.com/office/drawing/2014/main" id="{1A9A51A9-AA1B-4283-BF13-6F1D63FDD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A685DFA7-77F5-4963-B6BD-9BCF3D045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7974EFF1-6555-4277-8547-1C92974E7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5975286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3012889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Tech Layoffs Over Time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5974BEAF-D0A0-45D8-852C-637D4C6E2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5975286" cy="321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0240" y="2336873"/>
            <a:ext cx="2071595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Clear peak in layoffs observed during 2022–2023.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Market stabilization visible post-2024.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Correlates with post-pandemic economic corrections.</a:t>
            </a:r>
          </a:p>
        </p:txBody>
      </p:sp>
      <p:pic>
        <p:nvPicPr>
          <p:cNvPr id="6" name="Picture 5" descr="A graph of a graph showing the number of companies&#10;&#10;AI-generated content may be incorrect.">
            <a:extLst>
              <a:ext uri="{FF2B5EF4-FFF2-40B4-BE49-F238E27FC236}">
                <a16:creationId xmlns:a16="http://schemas.microsoft.com/office/drawing/2014/main" id="{A311E24D-29A4-E691-8324-7300FF6EA8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3" r="584"/>
          <a:stretch>
            <a:fillRect/>
          </a:stretch>
        </p:blipFill>
        <p:spPr>
          <a:xfrm>
            <a:off x="2675895" y="4086738"/>
            <a:ext cx="6311153" cy="2624328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D9C3B4FC-410E-6244-D034-4E65E6A672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06" t="34" r="-1302" b="-30"/>
          <a:stretch>
            <a:fillRect/>
          </a:stretch>
        </p:blipFill>
        <p:spPr>
          <a:xfrm>
            <a:off x="3462746" y="576240"/>
            <a:ext cx="5591692" cy="3430327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Layoffs by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241" y="2336873"/>
            <a:ext cx="2617006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Sharp rise in 2022 compared to 2021.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2023 remained high, marking the most volatile period.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2024 shows signs of recovery.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2025 even though has high numbers, has recovered comparatively</a:t>
            </a:r>
          </a:p>
        </p:txBody>
      </p:sp>
      <p:pic>
        <p:nvPicPr>
          <p:cNvPr id="3" name="Picture 2" descr="Slide_07_LayoffsYear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7" y="2336872"/>
            <a:ext cx="5571252" cy="332882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Top 15 Companies by Layoffs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241" y="2336873"/>
            <a:ext cx="2617006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Major tech giants (Intel, Amazon, Meta, Google) dominate the totals.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Reflects workforce resizing after massive growth phases.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Company-level view highlights systemic industry shifts.</a:t>
            </a:r>
          </a:p>
        </p:txBody>
      </p:sp>
      <p:pic>
        <p:nvPicPr>
          <p:cNvPr id="3" name="Picture 2" descr="Slide_08_TopCompan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4282" y="2298830"/>
            <a:ext cx="5878750" cy="410043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Layoffs by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241" y="2336873"/>
            <a:ext cx="2017806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Retail, Hardware, Consumer hit hardest.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Transportation, Finance, Food and Healthcare also show significant numbers.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Useful for identifying sector-specific risks.</a:t>
            </a:r>
          </a:p>
        </p:txBody>
      </p:sp>
      <p:pic>
        <p:nvPicPr>
          <p:cNvPr id="3" name="Picture 2" descr="Slide_09_IndustryLayoff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2112" y="2198842"/>
            <a:ext cx="6023963" cy="3599316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Percentage Laid Off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2335" y="2317806"/>
            <a:ext cx="2223994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High variance within industries.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Boxplots reveal that while totals are high, many companies laid off smaller % of workforce.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Outliers indicate total shutdowns or massive pivots.</a:t>
            </a:r>
          </a:p>
        </p:txBody>
      </p:sp>
      <p:pic>
        <p:nvPicPr>
          <p:cNvPr id="3" name="Picture 2" descr="Slide_10_PercBox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6328" y="2130822"/>
            <a:ext cx="6363531" cy="378630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Global Layoff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241" y="2336873"/>
            <a:ext cx="1999877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United States dominates the dataset.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India, Germany, and UK follow.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Reflects the concentration of tech HQs in the US.</a:t>
            </a:r>
          </a:p>
        </p:txBody>
      </p:sp>
      <p:pic>
        <p:nvPicPr>
          <p:cNvPr id="3" name="Picture 2" descr="Slide_11_CountryLayoff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1826" y="2336873"/>
            <a:ext cx="6049273" cy="3599316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Salary Distribution (Data Roles)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9945" y="2336873"/>
            <a:ext cx="2062630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Right-skewed distribution.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Most roles cluster between $100k - $150k.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Long tail extends to $400k+, showing high ceiling for specialized roles.</a:t>
            </a:r>
          </a:p>
        </p:txBody>
      </p:sp>
      <p:pic>
        <p:nvPicPr>
          <p:cNvPr id="3" name="Picture 2" descr="Slide_12_SalaryH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2871" y="2291404"/>
            <a:ext cx="6202110" cy="3690254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Median Salary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241" y="2336873"/>
            <a:ext cx="1955053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Steady upward trend from 2020 to 2023.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Indicates strong demand for data skills despite broader layoffs.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Resilience of the specific Data/AI sector.</a:t>
            </a:r>
          </a:p>
        </p:txBody>
      </p:sp>
      <p:pic>
        <p:nvPicPr>
          <p:cNvPr id="3" name="Picture 2" descr="Slide_13_Salary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1498" y="2393644"/>
            <a:ext cx="6237190" cy="3711127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Salary by Experience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241" y="2336873"/>
            <a:ext cx="1838512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Clear stratification: Entry &lt; Mid &lt; Senior &lt; Executive.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Executive roles show highest variance.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Senior roles provide stable, high median compensation.</a:t>
            </a:r>
          </a:p>
        </p:txBody>
      </p:sp>
      <p:pic>
        <p:nvPicPr>
          <p:cNvPr id="3" name="Picture 2" descr="Slide_14_ExpSal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6527" y="2291404"/>
            <a:ext cx="6227232" cy="3705202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Salary Heatmap (Exp x Year)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422" y="2766939"/>
            <a:ext cx="217917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Matrix view of compensation.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Executive salaries in 2020 &amp; 2022 show the 'hottest' zones.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Consistent growth across all levels year-over-year.</a:t>
            </a:r>
          </a:p>
        </p:txBody>
      </p:sp>
      <p:pic>
        <p:nvPicPr>
          <p:cNvPr id="3" name="Picture 2" descr="Slide_18_Salary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2593" y="2291404"/>
            <a:ext cx="6165990" cy="3899992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61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82" y="0"/>
            <a:ext cx="9144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3719321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3102093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100"/>
              <a:t>Global Salary Disparities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1"/>
            <a:ext cx="3717036" cy="1997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2583" y="2336873"/>
            <a:ext cx="3204327" cy="1396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US offers highest median salaries.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Significant gap between US (max) and other countries on the lower end (min).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Important factor for remote work strategies.</a:t>
            </a:r>
          </a:p>
        </p:txBody>
      </p:sp>
      <p:pic>
        <p:nvPicPr>
          <p:cNvPr id="6" name="Picture 5" descr="A graph with blue dots and numbers&#10;&#10;AI-generated content may be incorrect.">
            <a:extLst>
              <a:ext uri="{FF2B5EF4-FFF2-40B4-BE49-F238E27FC236}">
                <a16:creationId xmlns:a16="http://schemas.microsoft.com/office/drawing/2014/main" id="{9A6D2BFA-31C7-3122-0CA1-7106F2C6D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149" y="762739"/>
            <a:ext cx="4896268" cy="2904565"/>
          </a:xfrm>
          <a:prstGeom prst="rect">
            <a:avLst/>
          </a:prstGeom>
        </p:spPr>
      </p:pic>
      <p:pic>
        <p:nvPicPr>
          <p:cNvPr id="8" name="Picture 7" descr="A graph of a salary&#10;&#10;AI-generated content may be incorrect.">
            <a:extLst>
              <a:ext uri="{FF2B5EF4-FFF2-40B4-BE49-F238E27FC236}">
                <a16:creationId xmlns:a16="http://schemas.microsoft.com/office/drawing/2014/main" id="{8F993CA5-F0C6-9849-12A9-3B9E31F09A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917" y="3854823"/>
            <a:ext cx="4262719" cy="2528731"/>
          </a:xfrm>
          <a:prstGeom prst="rect">
            <a:avLst/>
          </a:prstGeom>
        </p:spPr>
      </p:pic>
      <p:pic>
        <p:nvPicPr>
          <p:cNvPr id="12" name="Picture 11" descr="A graph with blue dots&#10;&#10;AI-generated content may be incorrect.">
            <a:extLst>
              <a:ext uri="{FF2B5EF4-FFF2-40B4-BE49-F238E27FC236}">
                <a16:creationId xmlns:a16="http://schemas.microsoft.com/office/drawing/2014/main" id="{DE542C8F-6EE7-E68A-C846-BED8D0A6A7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0389" y="3846613"/>
            <a:ext cx="4262718" cy="25287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Work Setting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6600" y="2507277"/>
            <a:ext cx="2250888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In-person and Remote were historically dominant.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Recent trends show shifts in how work is structured.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Visual shows the aggregate composition of the dataset.</a:t>
            </a:r>
          </a:p>
        </p:txBody>
      </p:sp>
      <p:pic>
        <p:nvPicPr>
          <p:cNvPr id="3" name="Picture 2" descr="Slide_16_WorkSettingP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088" y="2199724"/>
            <a:ext cx="4091822" cy="4122743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4C28B3-E902-49D1-98A0-582D277A0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A6C14C-E755-4A02-821B-6EA2D4C9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478287C-E119-4E9C-95B0-518478BD9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A294F-6D36-425B-8632-27FD6A284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Work Setting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159" y="2587398"/>
            <a:ext cx="2617006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Drastic shift during 2020-2021 towards Remote - COVID.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2023 shows return to In-person/Hybrid models.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Reflects the 'Return to Office' mandates.</a:t>
            </a:r>
          </a:p>
        </p:txBody>
      </p:sp>
      <p:pic>
        <p:nvPicPr>
          <p:cNvPr id="3" name="Picture 2" descr="Slide_17_WorkSettingSt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7685" y="2273791"/>
            <a:ext cx="6049271" cy="3599315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100D021-ED8E-4951-8376-73996A82C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FE219C-22F7-4734-B3C1-28E70390C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2EC4B6-5524-4806-8575-59DB6B8F8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D50BBC6-5944-49AE-A819-558AB05AB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2E428D-A109-43BE-8AC2-C83EF031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Key Insights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108C286-6A2B-4885-A848-DBC93952A4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0494312"/>
              </p:ext>
            </p:extLst>
          </p:nvPr>
        </p:nvGraphicFramePr>
        <p:xfrm>
          <a:off x="510777" y="2336800"/>
          <a:ext cx="812298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655D52-F2FA-4137-8A31-499A4FE62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0240"/>
            <a:ext cx="7828359" cy="3211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19FA1D-01C2-425F-B9AA-D69B4DD0A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C0D803F-BF83-4194-8691-90B027BD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609600"/>
            <a:ext cx="7828359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6132F-CC4B-4C96-9C75-95DC7CD48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C45AD9C-F21B-4046-AF68-07A246947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F5BD6E-AB48-4A2D-AA03-D787D54FA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221115A-B66A-4D35-9D9F-97A91D88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3704"/>
            <a:ext cx="7828359" cy="32116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BC72B1C-D4EE-45CF-A99C-0AD017C41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7828359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753228"/>
            <a:ext cx="7210396" cy="10809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8AB44AF-E52F-46C5-8C2C-8487AC8B1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5B2FDF3-1FF8-4FBF-842A-4EA5719F3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1752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389DEC8-49B8-4778-BB47-FF48E8C5B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85714"/>
            <a:ext cx="7828359" cy="32116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F550B33-5759-49FD-90FC-11EA4ED5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7829550" cy="379320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8981" y="2444367"/>
            <a:ext cx="7210395" cy="1957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rgbClr val="FFFFFF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Tech workforce is stabilizing after a volatile correction.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Data Visualization clarifies complex temporal and categorical trends.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Future analysis: Add 2024 salary data and predictive modeling.</a:t>
            </a:r>
          </a:p>
          <a:p>
            <a:pPr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Possible projects: Predictions of salary/layoff in the next 5 years.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2CFFBB8-E539-483F-B9AA-088F7D4B1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2C38B8-B7F9-478B-8D67-99B248A94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971234"/>
            <a:ext cx="1202248" cy="1442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ADE9738-7B48-4F06-BA7B-E2CF9663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609600"/>
            <a:ext cx="1202248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F07745-D943-46DF-AB69-FA455CE42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446" y="0"/>
            <a:ext cx="91439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2A2E17-3305-4404-A0DA-5CC3BDAFE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cartoon of a rainbow colored cone&#10;&#10;AI-generated content may be incorrect.">
            <a:extLst>
              <a:ext uri="{FF2B5EF4-FFF2-40B4-BE49-F238E27FC236}">
                <a16:creationId xmlns:a16="http://schemas.microsoft.com/office/drawing/2014/main" id="{428F808F-B628-BD2E-B38C-B6E32B10435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6764" r="-5856"/>
          <a:stretch>
            <a:fillRect/>
          </a:stretch>
        </p:blipFill>
        <p:spPr bwMode="auto">
          <a:xfrm>
            <a:off x="2393576" y="609600"/>
            <a:ext cx="4213412" cy="5604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365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165</TotalTime>
  <Words>604</Words>
  <Application>Microsoft Macintosh PowerPoint</Application>
  <PresentationFormat>On-screen Show (4:3)</PresentationFormat>
  <Paragraphs>93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Trebuchet MS</vt:lpstr>
      <vt:lpstr>Berlin</vt:lpstr>
      <vt:lpstr>Visualizing Tech Workforce Dynamics (2020–2025)</vt:lpstr>
      <vt:lpstr>Why Study Tech Workforce Dynamics?</vt:lpstr>
      <vt:lpstr>Datasets Overview</vt:lpstr>
      <vt:lpstr>Tech Layoffs Over Time</vt:lpstr>
      <vt:lpstr>Layoffs by Year</vt:lpstr>
      <vt:lpstr>Top 15 Companies by Layoffs</vt:lpstr>
      <vt:lpstr>Layoffs by Industry</vt:lpstr>
      <vt:lpstr>Percentage Laid Off Distribution</vt:lpstr>
      <vt:lpstr>Global Layoff Distribution</vt:lpstr>
      <vt:lpstr>Salary Distribution (Data Roles)</vt:lpstr>
      <vt:lpstr>Median Salary Growth</vt:lpstr>
      <vt:lpstr>Salary by Experience Level</vt:lpstr>
      <vt:lpstr>Salary Heatmap (Exp x Year)</vt:lpstr>
      <vt:lpstr>Global Salary Disparities</vt:lpstr>
      <vt:lpstr>Work Setting Distribution</vt:lpstr>
      <vt:lpstr>Work Setting Evolution</vt:lpstr>
      <vt:lpstr>Key Insights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Thakrar, Mansi R.</cp:lastModifiedBy>
  <cp:revision>3</cp:revision>
  <dcterms:created xsi:type="dcterms:W3CDTF">2013-01-27T09:14:16Z</dcterms:created>
  <dcterms:modified xsi:type="dcterms:W3CDTF">2025-11-18T04:35:23Z</dcterms:modified>
  <cp:category/>
</cp:coreProperties>
</file>